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4284" r:id="rId4"/>
    <p:sldMasterId id="2147484296" r:id="rId5"/>
  </p:sldMasterIdLst>
  <p:notesMasterIdLst>
    <p:notesMasterId r:id="rId9"/>
  </p:notesMasterIdLst>
  <p:handoutMasterIdLst>
    <p:handoutMasterId r:id="rId10"/>
  </p:handoutMasterIdLst>
  <p:sldIdLst>
    <p:sldId id="273" r:id="rId6"/>
    <p:sldId id="378" r:id="rId7"/>
    <p:sldId id="379" r:id="rId16"/>
    <p:sldId id="380" r:id="rId17"/>
    <p:sldId id="381" r:id="rId18"/>
    <p:sldId id="382" r:id="rId19"/>
    <p:sldId id="383" r:id="rId20"/>
    <p:sldId id="384" r:id="rId21"/>
    <p:sldId id="385" r:id="rId22"/>
    <p:sldId id="386" r:id="rId23"/>
    <p:sldId id="387" r:id="rId24"/>
    <p:sldId id="388" r:id="rId25"/>
    <p:sldId id="369" r:id="rId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Kristina S. Jovanović" initials="KSJ" lastIdx="3" clrIdx="0">
    <p:extLst>
      <p:ext uri="{19B8F6BF-5375-455C-9EA6-DF929625EA0E}">
        <p15:presenceInfo xmlns:p15="http://schemas.microsoft.com/office/powerpoint/2012/main" userId="Kristina S. Jovanović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697" autoAdjust="0"/>
    <p:restoredTop sz="94684" autoAdjust="0"/>
  </p:normalViewPr>
  <p:slideViewPr>
    <p:cSldViewPr>
      <p:cViewPr varScale="1">
        <p:scale>
          <a:sx n="72" d="100"/>
          <a:sy n="72" d="100"/>
        </p:scale>
        <p:origin x="964" y="6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132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71" d="100"/>
          <a:sy n="71" d="100"/>
        </p:scale>
        <p:origin x="-2706" y="-90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Master" Target="slideMasters/slideMaster2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0" Type="http://schemas.openxmlformats.org/officeDocument/2006/relationships/handoutMaster" Target="handoutMasters/handoutMaster1.xml"/><Relationship Id="rId11" Type="http://schemas.openxmlformats.org/officeDocument/2006/relationships/commentAuthors" Target="commentAuthors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Relationship Id="rId16" Type="http://schemas.openxmlformats.org/officeDocument/2006/relationships/slide" Target="slides/slide4.xml"/><Relationship Id="rId17" Type="http://schemas.openxmlformats.org/officeDocument/2006/relationships/slide" Target="slides/slide5.xml"/><Relationship Id="rId18" Type="http://schemas.openxmlformats.org/officeDocument/2006/relationships/slide" Target="slides/slide6.xml"/><Relationship Id="rId19" Type="http://schemas.openxmlformats.org/officeDocument/2006/relationships/slide" Target="slides/slide7.xml"/><Relationship Id="rId20" Type="http://schemas.openxmlformats.org/officeDocument/2006/relationships/slide" Target="slides/slide8.xml"/><Relationship Id="rId21" Type="http://schemas.openxmlformats.org/officeDocument/2006/relationships/slide" Target="slides/slide9.xml"/><Relationship Id="rId22" Type="http://schemas.openxmlformats.org/officeDocument/2006/relationships/slide" Target="slides/slide10.xml"/><Relationship Id="rId23" Type="http://schemas.openxmlformats.org/officeDocument/2006/relationships/slide" Target="slides/slide11.xml"/><Relationship Id="rId24" Type="http://schemas.openxmlformats.org/officeDocument/2006/relationships/slide" Target="slides/slide12.xml"/><Relationship Id="rId25" Type="http://schemas.openxmlformats.org/officeDocument/2006/relationships/slide" Target="slides/slide13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E97AD76-3813-436D-B60F-D5FF674BC028}" type="datetime1">
              <a:rPr lang="en-US" smtClean="0"/>
              <a:t>8/31/2026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0598377-0C00-4AA1-AB78-E59A094463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0248804"/>
      </p:ext>
    </p:extLst>
  </p:cSld>
  <p:clrMap bg1="lt1" tx1="dk1" bg2="lt2" tx2="dk2" accent1="accent1" accent2="accent2" accent3="accent3" accent4="accent4" accent5="accent5" accent6="accent6" hlink="hlink" folHlink="folHlink"/>
  <p:hf hdr="0" ftr="0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1C1444C-DF56-4744-9238-9FFDA57C66F9}" type="slidenum">
              <a:rPr lang="en-US" smtClean="0"/>
              <a:t>‹#›</a:t>
            </a:fld>
            <a:endParaRPr lang="en-US"/>
          </a:p>
        </p:txBody>
      </p:sp>
      <p:sp>
        <p:nvSpPr>
          <p:cNvPr id="8" name="Date Placeholder 7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8796677-57D9-450F-8828-195B2BD071FA}" type="datetime1">
              <a:rPr lang="en-US" smtClean="0"/>
              <a:t>8/31/2026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5600858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1C1444C-DF56-4744-9238-9FFDA57C66F9}" type="slidenum">
              <a:rPr lang="en-US" smtClean="0"/>
              <a:t>1</a:t>
            </a:fld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idx="1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/>
          <a:lstStyle/>
          <a:p>
            <a:fld id="{0FA7801A-77B1-4376-8A34-4734A83863D6}" type="datetime1">
              <a:rPr lang="en-US" smtClean="0"/>
              <a:t>8/31/2026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715830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/>
          <a:lstStyle/>
          <a:p>
            <a:fld id="{1EB7B663-B6C6-4C2C-8489-188A26635A12}" type="datetime1">
              <a:rPr lang="en-US" smtClean="0"/>
              <a:t>8/31/2026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1C1444C-DF56-4744-9238-9FFDA57C66F9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0305323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219200" y="5124450"/>
            <a:ext cx="6858000" cy="533400"/>
          </a:xfrm>
        </p:spPr>
        <p:txBody>
          <a:bodyPr/>
          <a:lstStyle>
            <a:lvl1pPr marL="0" indent="0" algn="r">
              <a:buNone/>
              <a:defRPr sz="20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04875" y="3648075"/>
            <a:ext cx="7315200" cy="1280160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3" name="Rectangle 32"/>
          <p:cNvSpPr/>
          <p:nvPr/>
        </p:nvSpPr>
        <p:spPr>
          <a:xfrm>
            <a:off x="914400" y="5048250"/>
            <a:ext cx="7315200" cy="685800"/>
          </a:xfrm>
          <a:prstGeom prst="rect">
            <a:avLst/>
          </a:prstGeom>
          <a:noFill/>
          <a:ln w="6350" cap="rnd" cmpd="sng" algn="ctr">
            <a:solidFill>
              <a:schemeClr val="accent2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2" name="Rectangle 21"/>
          <p:cNvSpPr/>
          <p:nvPr/>
        </p:nvSpPr>
        <p:spPr>
          <a:xfrm>
            <a:off x="904875" y="3648075"/>
            <a:ext cx="228600" cy="128016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2" name="Rectangle 31"/>
          <p:cNvSpPr/>
          <p:nvPr/>
        </p:nvSpPr>
        <p:spPr>
          <a:xfrm>
            <a:off x="914400" y="5048250"/>
            <a:ext cx="228600" cy="685800"/>
          </a:xfrm>
          <a:prstGeom prst="rect">
            <a:avLst/>
          </a:prstGeom>
          <a:solidFill>
            <a:schemeClr val="accent2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ctr"/>
            <a:fld id="{41E4D9F8-1887-4BC5-8E07-6016F3A0889D}" type="datetime1">
              <a:rPr lang="sr-Cyrl-RS" smtClean="0"/>
              <a:t>31.08.2026.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l-GR"/>
              <a:t>|   φον   |   Ξ   | πρπ |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0BAF381A-784B-4530-909E-DC1EAEFCE3E7}" type="datetime1">
              <a:rPr lang="sr-Cyrl-RS" smtClean="0"/>
              <a:t>31.08.2026.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/>
            <a:r>
              <a:rPr lang="el-GR">
                <a:latin typeface="Times New Roman" panose="02020603050405020304" pitchFamily="18" charset="0"/>
                <a:cs typeface="Times New Roman" panose="02020603050405020304" pitchFamily="18" charset="0"/>
              </a:rPr>
              <a:t>|   φον   |   Ξ   | πρπ |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4937760"/>
          </a:xfrm>
        </p:spPr>
        <p:txBody>
          <a:bodyPr/>
          <a:lstStyle>
            <a:lvl1pPr marL="274320" indent="-274320">
              <a:buFont typeface="Wingdings" panose="05000000000000000000" pitchFamily="2" charset="2"/>
              <a:buChar char="v"/>
              <a:defRPr/>
            </a:lvl1pPr>
          </a:lstStyle>
          <a:p>
            <a:pPr lvl="0" eaLnBrk="1" latinLnBrk="0" hangingPunct="1"/>
            <a:r>
              <a:rPr lang="en-US" dirty="0"/>
              <a:t>Click to edit Master text styles</a:t>
            </a:r>
          </a:p>
          <a:p>
            <a:pPr lvl="1" eaLnBrk="1" latinLnBrk="0" hangingPunct="1"/>
            <a:r>
              <a:rPr lang="en-US" dirty="0"/>
              <a:t>Second level</a:t>
            </a:r>
          </a:p>
          <a:p>
            <a:pPr lvl="2" eaLnBrk="1" latinLnBrk="0" hangingPunct="1"/>
            <a:r>
              <a:rPr lang="en-US" dirty="0"/>
              <a:t>Third level</a:t>
            </a:r>
          </a:p>
          <a:p>
            <a:pPr lvl="3" eaLnBrk="1" latinLnBrk="0" hangingPunct="1"/>
            <a:r>
              <a:rPr lang="en-US" dirty="0"/>
              <a:t>Fourth level</a:t>
            </a:r>
          </a:p>
          <a:p>
            <a:pPr lvl="4" eaLnBrk="1" latinLnBrk="0" hangingPunct="1"/>
            <a:r>
              <a:rPr lang="en-US" dirty="0"/>
              <a:t>Fifth level</a:t>
            </a:r>
            <a:endParaRPr kumimoji="0"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9200" y="2971800"/>
            <a:ext cx="6858000" cy="1066800"/>
          </a:xfrm>
        </p:spPr>
        <p:txBody>
          <a:bodyPr anchor="t" anchorCtr="0"/>
          <a:lstStyle>
            <a:lvl1pPr algn="r">
              <a:buNone/>
              <a:defRPr sz="3200" b="0" cap="none" baseline="0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267200"/>
            <a:ext cx="6781800" cy="1143000"/>
          </a:xfrm>
        </p:spPr>
        <p:txBody>
          <a:bodyPr anchor="t" anchorCtr="0"/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400800" y="6355080"/>
            <a:ext cx="2286000" cy="365760"/>
          </a:xfrm>
        </p:spPr>
        <p:txBody>
          <a:bodyPr/>
          <a:lstStyle/>
          <a:p>
            <a:fld id="{407A6626-667B-4F2F-9BA7-20CADA61E78E}" type="datetime1">
              <a:rPr lang="sr-Cyrl-RS" smtClean="0"/>
              <a:t>31.08.2026.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898648" y="6355080"/>
            <a:ext cx="3474720" cy="365760"/>
          </a:xfrm>
        </p:spPr>
        <p:txBody>
          <a:bodyPr/>
          <a:lstStyle/>
          <a:p>
            <a:r>
              <a:rPr lang="el-GR"/>
              <a:t>|   φον   |   Ξ   | πρπ |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9848" y="6355080"/>
            <a:ext cx="1520952" cy="365760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914400" y="2819400"/>
            <a:ext cx="7315200" cy="1280160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914400" y="2819400"/>
            <a:ext cx="228600" cy="128016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B17589-FF6D-4D4D-99AA-990B3FD25358}" type="datetime1">
              <a:rPr lang="sr-Cyrl-RS" smtClean="0"/>
              <a:t>31.08.2026.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l-GR"/>
              <a:t>|   φον   |   Ξ   | πρπ |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4041648" cy="493776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632198" y="1216152"/>
            <a:ext cx="4041648" cy="493776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85875"/>
            <a:ext cx="4040188" cy="685800"/>
          </a:xfrm>
          <a:noFill/>
          <a:ln>
            <a:noFill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8200" y="1295400"/>
            <a:ext cx="4041775" cy="685800"/>
          </a:xfrm>
          <a:noFill/>
          <a:ln>
            <a:noFill/>
          </a:ln>
        </p:spPr>
        <p:txBody>
          <a:bodyPr lIns="91440" anchor="b" anchorCtr="0"/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C85F54-3FF5-4BF1-ADC7-CB1B333B778F}" type="datetime1">
              <a:rPr lang="sr-Cyrl-RS" smtClean="0"/>
              <a:t>31.08.2026.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l-GR"/>
              <a:t>|   φον   |   Ξ   | πρπ |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57200" y="2133600"/>
            <a:ext cx="4038600" cy="40386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4"/>
          </p:nvPr>
        </p:nvSpPr>
        <p:spPr>
          <a:xfrm>
            <a:off x="4648200" y="2133600"/>
            <a:ext cx="4038600" cy="40386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EBF7CB-49FD-48DC-AC34-361B8EEAEB63}" type="datetime1">
              <a:rPr lang="sr-Cyrl-RS" smtClean="0"/>
              <a:t>31.08.2026.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l-GR"/>
              <a:t>|   φον   |   Ξ   | πρπ |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Isosceles Triangle 5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D4C716-15EB-4EC2-A1E4-C7223DB9FAD6}" type="datetime1">
              <a:rPr lang="sr-Cyrl-RS" smtClean="0"/>
              <a:t>31.08.2026.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l-GR"/>
              <a:t>|   φον   |   Ξ   | πρπ |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Straight Connector 4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6" name="Isosceles Triangle 5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24600" y="304800"/>
            <a:ext cx="2514600" cy="838200"/>
          </a:xfrm>
        </p:spPr>
        <p:txBody>
          <a:bodyPr anchor="b" anchorCtr="0">
            <a:noAutofit/>
          </a:bodyPr>
          <a:lstStyle>
            <a:lvl1pPr algn="l">
              <a:buNone/>
              <a:defRPr sz="2000" b="1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324600" y="1219200"/>
            <a:ext cx="2514600" cy="4843463"/>
          </a:xfrm>
        </p:spPr>
        <p:txBody>
          <a:bodyPr/>
          <a:lstStyle>
            <a:lvl1pPr marL="0" indent="0">
              <a:lnSpc>
                <a:spcPts val="2200"/>
              </a:lnSpc>
              <a:spcAft>
                <a:spcPts val="1000"/>
              </a:spcAft>
              <a:buNone/>
              <a:defRPr sz="1600">
                <a:solidFill>
                  <a:schemeClr val="tx2"/>
                </a:solidFill>
              </a:defRPr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98B0AA-F8F1-4B7D-9D01-2CAD61A7F57A}" type="datetime1">
              <a:rPr lang="sr-Cyrl-RS" smtClean="0"/>
              <a:t>31.08.2026.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l-GR"/>
              <a:t>|   φον   |   Ξ   | πρπ |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Straight Connector 9"/>
          <p:cNvSpPr>
            <a:spLocks noChangeShapeType="1"/>
          </p:cNvSpPr>
          <p:nvPr/>
        </p:nvSpPr>
        <p:spPr bwMode="auto">
          <a:xfrm rot="5400000">
            <a:off x="3160645" y="3324225"/>
            <a:ext cx="603504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9" name="Isosceles Triangle 8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Content Placeholder 11"/>
          <p:cNvSpPr>
            <a:spLocks noGrp="1"/>
          </p:cNvSpPr>
          <p:nvPr>
            <p:ph sz="quarter" idx="1"/>
          </p:nvPr>
        </p:nvSpPr>
        <p:spPr>
          <a:xfrm>
            <a:off x="304800" y="304800"/>
            <a:ext cx="5715000" cy="57150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00856"/>
            <a:ext cx="8229600" cy="674688"/>
          </a:xfrm>
          <a:ln>
            <a:solidFill>
              <a:schemeClr val="accent1"/>
            </a:solidFill>
          </a:ln>
        </p:spPr>
        <p:txBody>
          <a:bodyPr lIns="274320" anchor="ctr"/>
          <a:lstStyle>
            <a:lvl1pPr algn="r">
              <a:buNone/>
              <a:defRPr sz="2000" b="0">
                <a:solidFill>
                  <a:schemeClr val="tx1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57200" y="1905000"/>
            <a:ext cx="8229600" cy="4270248"/>
          </a:xfrm>
          <a:solidFill>
            <a:schemeClr val="tx1">
              <a:shade val="50000"/>
            </a:schemeClr>
          </a:solidFill>
          <a:ln>
            <a:noFill/>
          </a:ln>
          <a:effectLst/>
        </p:spPr>
        <p:txBody>
          <a:bodyPr/>
          <a:lstStyle>
            <a:lvl1pPr marL="0" indent="0">
              <a:spcBef>
                <a:spcPts val="600"/>
              </a:spcBef>
              <a:buNone/>
              <a:defRPr sz="3200"/>
            </a:lvl1pPr>
          </a:lstStyle>
          <a:p>
            <a:r>
              <a:rPr kumimoji="0" lang="en-US"/>
              <a:t>Click icon to add picture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219200"/>
            <a:ext cx="8229600" cy="533400"/>
          </a:xfrm>
        </p:spPr>
        <p:txBody>
          <a:bodyPr anchor="ctr" anchorCtr="0"/>
          <a:lstStyle>
            <a:lvl1pPr marL="0" indent="0" algn="l">
              <a:buFontTx/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DA48D0-5B47-458D-9493-B4AA89F8CB18}" type="datetime1">
              <a:rPr lang="sr-Cyrl-RS" smtClean="0"/>
              <a:t>31.08.2026.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l-GR"/>
              <a:t>|   φον   |   Ξ   | πρπ |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Isosceles Triangle 8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457200" y="500856"/>
            <a:ext cx="182880" cy="68580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5A2719-EC5F-4905-A472-E30F77E220EE}" type="datetime1">
              <a:rPr lang="sr-Cyrl-RS" smtClean="0"/>
              <a:t>31.08.2026.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l-GR"/>
              <a:t>|   φον   |   Ξ   | πρπ |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309D04-3E27-40FB-9E1B-5FBA1B01D970}" type="datetime1">
              <a:rPr lang="sr-Cyrl-RS" smtClean="0"/>
              <a:t>31.08.2026.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l-GR"/>
              <a:t>|   φον   |   Ξ   | πρπ |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Straight Connector 6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8" name="Isosceles Triangle 7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 rot="5400000">
            <a:off x="3629607" y="3201952"/>
            <a:ext cx="585216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EC37B4-05AD-4660-B8EF-331FF293152E}" type="datetime1">
              <a:rPr lang="sr-Cyrl-RS" smtClean="0"/>
              <a:t>31.08.2026.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l-GR"/>
              <a:t>|   φον   |   Ξ   | πρπ |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D2C7C0-5DC3-473A-B7DE-5B4674EC22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166235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B30418-44E7-4314-8896-E0A99613DE3E}" type="datetime1">
              <a:rPr lang="sr-Cyrl-RS" smtClean="0"/>
              <a:t>31.08.2026.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l-GR"/>
              <a:t>|   φον   |   Ξ   | πρπ |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D2C7C0-5DC3-473A-B7DE-5B4674EC22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81348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9E669E-0832-4117-95D7-F345B499CCF6}" type="datetime1">
              <a:rPr lang="sr-Cyrl-RS" smtClean="0"/>
              <a:t>31.08.2026.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l-GR"/>
              <a:t>|   φον   |   Ξ   | πρπ |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D2C7C0-5DC3-473A-B7DE-5B4674EC22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175723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D5ED31-0444-4379-A6F5-AE33C7384150}" type="datetime1">
              <a:rPr lang="sr-Cyrl-RS" smtClean="0"/>
              <a:t>31.08.2026.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l-GR"/>
              <a:t>|   φον   |   Ξ   | πρπ |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D2C7C0-5DC3-473A-B7DE-5B4674EC22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089742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E0E8C1-A743-4848-9A26-1B2BBD3FA249}" type="datetime1">
              <a:rPr lang="sr-Cyrl-RS" smtClean="0"/>
              <a:t>31.08.2026.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l-GR"/>
              <a:t>|   φον   |   Ξ   | πρπ |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D2C7C0-5DC3-473A-B7DE-5B4674EC22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718994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896795-C4B2-4C39-A3C9-8A815E55626E}" type="datetime1">
              <a:rPr lang="sr-Cyrl-RS" smtClean="0"/>
              <a:t>31.08.2026.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l-GR"/>
              <a:t>|   φον   |   Ξ   | πρπ |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D2C7C0-5DC3-473A-B7DE-5B4674EC22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961705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F5B6F1-0077-4C4F-87BC-0FC087F2182A}" type="datetime1">
              <a:rPr lang="sr-Cyrl-RS" smtClean="0"/>
              <a:t>31.08.2026.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l-GR"/>
              <a:t>|   φον   |   Ξ   | πρπ |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D2C7C0-5DC3-473A-B7DE-5B4674EC22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857536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625CAC-CADF-4A8D-8AFE-A438480CA470}" type="datetime1">
              <a:rPr lang="sr-Cyrl-RS" smtClean="0"/>
              <a:t>31.08.2026.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l-GR"/>
              <a:t>|   φον   |   Ξ   | πρπ |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D2C7C0-5DC3-473A-B7DE-5B4674EC22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643974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3B2C8F-03B0-4698-8A4D-36AE1C9890B9}" type="datetime1">
              <a:rPr lang="sr-Cyrl-RS" smtClean="0"/>
              <a:t>31.08.2026.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l-GR"/>
              <a:t>|   φον   |   Ξ   | πρπ |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D2C7C0-5DC3-473A-B7DE-5B4674EC22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258406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FE208F-9D1B-4D01-A4E7-F8B86AE9FE9D}" type="datetime1">
              <a:rPr lang="sr-Cyrl-RS" smtClean="0"/>
              <a:t>31.08.2026.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l-GR"/>
              <a:t>|   φον   |   Ξ   | πρπ |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D2C7C0-5DC3-473A-B7DE-5B4674EC22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84315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B3486E-D972-4616-8A5B-6C594344CAFF}" type="datetime1">
              <a:rPr lang="sr-Cyrl-RS" smtClean="0"/>
              <a:t>31.08.2026.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l-GR"/>
              <a:t>|   φον   |   Ξ   | πρπ |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D2C7C0-5DC3-473A-B7DE-5B4674EC22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3223705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</p:spPr>
        <p:txBody>
          <a:bodyPr vert="horz" anchor="b" anchorCtr="0">
            <a:normAutofit/>
          </a:bodyPr>
          <a:lstStyle/>
          <a:p>
            <a:r>
              <a:rPr kumimoji="0" lang="en-US" dirty="0"/>
              <a:t>Click to edit Master title style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457200" y="1219200"/>
            <a:ext cx="8229600" cy="4910328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dirty="0"/>
              <a:t>Click to edit Master text styles</a:t>
            </a:r>
          </a:p>
          <a:p>
            <a:pPr lvl="1" eaLnBrk="1" latinLnBrk="0" hangingPunct="1"/>
            <a:r>
              <a:rPr kumimoji="0" lang="en-US" dirty="0"/>
              <a:t>Second level</a:t>
            </a:r>
          </a:p>
          <a:p>
            <a:pPr lvl="2" eaLnBrk="1" latinLnBrk="0" hangingPunct="1"/>
            <a:r>
              <a:rPr kumimoji="0" lang="en-US" dirty="0"/>
              <a:t>Third level</a:t>
            </a:r>
          </a:p>
          <a:p>
            <a:pPr lvl="3" eaLnBrk="1" latinLnBrk="0" hangingPunct="1"/>
            <a:r>
              <a:rPr kumimoji="0" lang="en-US" dirty="0"/>
              <a:t>Fourth level</a:t>
            </a:r>
          </a:p>
          <a:p>
            <a:pPr lvl="4" eaLnBrk="1" latinLnBrk="0" hangingPunct="1"/>
            <a:r>
              <a:rPr kumimoji="0" lang="en-US" dirty="0"/>
              <a:t>Fifth level</a:t>
            </a:r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400800" y="6356350"/>
            <a:ext cx="2289048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pPr algn="ctr"/>
            <a:fld id="{43BBC108-096B-4101-8DB9-6A8AB3E3F214}" type="datetime1">
              <a:rPr lang="sr-Cyrl-RS" smtClean="0"/>
              <a:t>31.08.2026.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2898648" y="6356350"/>
            <a:ext cx="3505200" cy="36576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r>
              <a:rPr lang="el-GR"/>
              <a:t>|   φον   |   Ξ   | πρπ |</a:t>
            </a:r>
            <a:endParaRPr lang="en-US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8" name="Straight Connector 2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9" name="Straight Connector 28"/>
          <p:cNvSpPr>
            <a:spLocks noChangeShapeType="1"/>
          </p:cNvSpPr>
          <p:nvPr/>
        </p:nvSpPr>
        <p:spPr bwMode="auto">
          <a:xfrm>
            <a:off x="457200" y="1143000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Isosceles Triangle 9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285" r:id="rId1"/>
    <p:sldLayoutId id="2147484286" r:id="rId2"/>
    <p:sldLayoutId id="2147484287" r:id="rId3"/>
    <p:sldLayoutId id="2147484288" r:id="rId4"/>
    <p:sldLayoutId id="2147484289" r:id="rId5"/>
    <p:sldLayoutId id="2147484290" r:id="rId6"/>
    <p:sldLayoutId id="2147484291" r:id="rId7"/>
    <p:sldLayoutId id="2147484292" r:id="rId8"/>
    <p:sldLayoutId id="2147484293" r:id="rId9"/>
    <p:sldLayoutId id="2147484294" r:id="rId10"/>
    <p:sldLayoutId id="2147484295" r:id="rId11"/>
  </p:sldLayoutIdLst>
  <p:hf hdr="0"/>
  <p:txStyles>
    <p:titleStyle>
      <a:lvl1pPr algn="l" rtl="0" eaLnBrk="1" latinLnBrk="0" hangingPunct="1">
        <a:spcBef>
          <a:spcPct val="0"/>
        </a:spcBef>
        <a:buNone/>
        <a:defRPr kumimoji="0" sz="32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600"/>
        </a:spcBef>
        <a:buClr>
          <a:schemeClr val="accent1"/>
        </a:buClr>
        <a:buSzPct val="76000"/>
        <a:buFont typeface="Wingdings 3"/>
        <a:buChar char="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74320" algn="l" rtl="0" eaLnBrk="1" latinLnBrk="0" hangingPunct="1">
        <a:spcBef>
          <a:spcPts val="500"/>
        </a:spcBef>
        <a:buClr>
          <a:schemeClr val="accent2"/>
        </a:buClr>
        <a:buSzPct val="76000"/>
        <a:buFont typeface="Wingdings 3"/>
        <a:buChar char=""/>
        <a:defRPr kumimoji="0" sz="2300" kern="1200">
          <a:solidFill>
            <a:schemeClr val="tx2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ts val="500"/>
        </a:spcBef>
        <a:buClr>
          <a:schemeClr val="bg1">
            <a:shade val="50000"/>
          </a:schemeClr>
        </a:buClr>
        <a:buSzPct val="76000"/>
        <a:buFont typeface="Wingdings 3"/>
        <a:buChar char="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ts val="400"/>
        </a:spcBef>
        <a:buClr>
          <a:schemeClr val="accent2">
            <a:shade val="75000"/>
          </a:schemeClr>
        </a:buClr>
        <a:buSzPct val="70000"/>
        <a:buFont typeface="Wingdings"/>
        <a:buChar char="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00"/>
        </a:spcBef>
        <a:buClr>
          <a:schemeClr val="accent2"/>
        </a:buClr>
        <a:buSzPct val="70000"/>
        <a:buFont typeface="Wingdings"/>
        <a:buChar char="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182880" algn="l" rtl="0" eaLnBrk="1" latinLnBrk="0" hangingPunct="1">
        <a:spcBef>
          <a:spcPts val="300"/>
        </a:spcBef>
        <a:buClr>
          <a:srgbClr val="9FB8CD">
            <a:shade val="75000"/>
          </a:srgbClr>
        </a:buClr>
        <a:buSzPct val="75000"/>
        <a:buFont typeface="Wingdings 3"/>
        <a:buChar char=""/>
        <a:defRPr kumimoji="0" lang="en-US" sz="1600" kern="1200" smtClean="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ts val="300"/>
        </a:spcBef>
        <a:buClr>
          <a:srgbClr val="727CA3">
            <a:shade val="75000"/>
          </a:srgb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7pPr>
      <a:lvl8pPr marL="2011680" indent="-182880" algn="l" rtl="0" eaLnBrk="1" latinLnBrk="0" hangingPunct="1">
        <a:spcBef>
          <a:spcPts val="300"/>
        </a:spcBef>
        <a:buClr>
          <a:prstClr val="white">
            <a:shade val="50000"/>
          </a:prst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8pPr>
      <a:lvl9pPr marL="2194560" indent="-182880" algn="l" rtl="0" eaLnBrk="1" latinLnBrk="0" hangingPunct="1">
        <a:spcBef>
          <a:spcPts val="300"/>
        </a:spcBef>
        <a:buClr>
          <a:srgbClr val="9FB8CD"/>
        </a:buClr>
        <a:buSzPct val="75000"/>
        <a:buFont typeface="Wingdings 3"/>
        <a:buChar char=""/>
        <a:defRPr kumimoji="0" lang="en-US" sz="1200" kern="1200" smtClean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73EA23B-40F5-4CCE-9C2E-F74ABBAA0F59}" type="datetime1">
              <a:rPr lang="sr-Cyrl-RS" smtClean="0"/>
              <a:t>31.08.2026.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l-GR"/>
              <a:t>|   φον   |   Ξ   | πρπ |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FD2C7C0-5DC3-473A-B7DE-5B4674EC22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59601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297" r:id="rId1"/>
    <p:sldLayoutId id="2147484298" r:id="rId2"/>
    <p:sldLayoutId id="2147484299" r:id="rId3"/>
    <p:sldLayoutId id="2147484300" r:id="rId4"/>
    <p:sldLayoutId id="2147484301" r:id="rId5"/>
    <p:sldLayoutId id="2147484302" r:id="rId6"/>
    <p:sldLayoutId id="2147484303" r:id="rId7"/>
    <p:sldLayoutId id="2147484304" r:id="rId8"/>
    <p:sldLayoutId id="2147484305" r:id="rId9"/>
    <p:sldLayoutId id="2147484306" r:id="rId10"/>
    <p:sldLayoutId id="2147484307" r:id="rId11"/>
  </p:sldLayoutIdLst>
  <p:hf hdr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microsoft.com/office/2007/relationships/hdphoto" Target="../media/hdphoto1.wdp"/><Relationship Id="rId5" Type="http://schemas.openxmlformats.org/officeDocument/2006/relationships/image" Target="../media/image3.jpeg"/><Relationship Id="rId6" Type="http://schemas.openxmlformats.org/officeDocument/2006/relationships/image" Target="../media/image4.jpeg"/><Relationship Id="rId7" Type="http://schemas.openxmlformats.org/officeDocument/2006/relationships/image" Target="../media/image5.png"/><Relationship Id="rId8" Type="http://schemas.openxmlformats.org/officeDocument/2006/relationships/image" Target="../media/image6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hyperlink" Target="http://sdl.fon.bg.ac.rs/" TargetMode="External"/><Relationship Id="rId4" Type="http://schemas.openxmlformats.org/officeDocument/2006/relationships/image" Target="../media/image13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Relationship Id="rId3" Type="http://schemas.microsoft.com/office/2007/relationships/hdphoto" Target="../media/hdphoto2.wdp"/><Relationship Id="rId4" Type="http://schemas.openxmlformats.org/officeDocument/2006/relationships/image" Target="../media/image8.png"/><Relationship Id="rId5" Type="http://schemas.microsoft.com/office/2007/relationships/hdphoto" Target="../media/hdphoto3.wdp"/><Relationship Id="rId6" Type="http://schemas.openxmlformats.org/officeDocument/2006/relationships/image" Target="../media/image9.png"/><Relationship Id="rId7" Type="http://schemas.openxmlformats.org/officeDocument/2006/relationships/image" Target="../media/image10.png"/><Relationship Id="rId8" Type="http://schemas.microsoft.com/office/2007/relationships/hdphoto" Target="../media/hdphoto4.wdp"/><Relationship Id="rId9" Type="http://schemas.openxmlformats.org/officeDocument/2006/relationships/image" Target="../media/image11.png"/><Relationship Id="rId10" Type="http://schemas.openxmlformats.org/officeDocument/2006/relationships/image" Target="../media/image12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100000"/>
                    </a14:imgEffect>
                    <a14:imgEffect>
                      <a14:brightnessContrast bright="-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87550" y="1512000"/>
            <a:ext cx="575066" cy="6425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758207" y="1062323"/>
            <a:ext cx="6172200" cy="418997"/>
          </a:xfrm>
          <a:ln>
            <a:noFill/>
          </a:ln>
        </p:spPr>
        <p:txBody>
          <a:bodyPr>
            <a:normAutofit fontScale="90000"/>
          </a:bodyPr>
          <a:lstStyle/>
          <a:p>
            <a:pPr algn="l"/>
            <a:r>
              <a:rPr lang="sr-Cyrl-RS" sz="2200" dirty="0">
                <a:solidFill>
                  <a:schemeClr val="accent2">
                    <a:lumMod val="75000"/>
                  </a:schemeClr>
                </a:solidFill>
                <a:latin typeface="Lucida Console" panose="020B0609040504020204" pitchFamily="49" charset="0"/>
              </a:rPr>
              <a:t>Факултет организационих наука</a:t>
            </a:r>
            <a:endParaRPr lang="en-US" sz="24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19200" y="5105400"/>
            <a:ext cx="6858000" cy="609600"/>
          </a:xfrm>
        </p:spPr>
        <p:txBody>
          <a:bodyPr>
            <a:normAutofit fontScale="85000" lnSpcReduction="20000"/>
          </a:bodyPr>
          <a:lstStyle/>
          <a:p>
            <a:r>
              <a:rPr lang="sr-Cyrl-RS">
                <a:solidFill>
                  <a:schemeClr val="accent2">
                    <a:lumMod val="75000"/>
                  </a:schemeClr>
                </a:solidFill>
                <a:latin typeface="+mn-lt"/>
              </a:rPr>
              <a:t>Алекса Живковић,  2022/0132</a:t>
            </a:r>
            <a:r>
              <a:rPr lang="sr-Cyrl-RS" dirty="0">
                <a:solidFill>
                  <a:schemeClr val="accent2">
                    <a:lumMod val="75000"/>
                  </a:schemeClr>
                </a:solidFill>
                <a:latin typeface="+mn-lt"/>
              </a:rPr>
              <a:t/>
            </a:r>
            <a:r>
              <a:rPr lang="sr-Cyrl-RS" b="1" dirty="0">
                <a:solidFill>
                  <a:schemeClr val="accent2">
                    <a:lumMod val="75000"/>
                  </a:schemeClr>
                </a:solidFill>
                <a:latin typeface="+mn-lt"/>
              </a:rPr>
              <a:t/>
            </a:r>
            <a:r>
              <a:rPr lang="sr-Cyrl-RS" dirty="0">
                <a:solidFill>
                  <a:schemeClr val="accent2">
                    <a:lumMod val="75000"/>
                  </a:schemeClr>
                </a:solidFill>
                <a:latin typeface="+mn-lt"/>
              </a:rPr>
              <a:t/>
            </a:r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914400" y="3507957"/>
            <a:ext cx="7391400" cy="1468905"/>
          </a:xfrm>
          <a:prstGeom prst="rect">
            <a:avLst/>
          </a:prstGeom>
        </p:spPr>
        <p:txBody>
          <a:bodyPr vert="horz" anchor="ctr" anchorCtr="1">
            <a:normAutofit fontScale="60000" lnSpcReduction="20000"/>
          </a:bodyPr>
          <a:lstStyle>
            <a:lvl1pPr algn="r" rtl="0" eaLnBrk="1" latinLnBrk="0" hangingPunct="1">
              <a:spcBef>
                <a:spcPct val="0"/>
              </a:spcBef>
              <a:buNone/>
              <a:defRPr kumimoji="0" sz="32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endParaRPr lang="sr-Cyrl-RS" sz="3600" b="1" spc="400" dirty="0">
              <a:solidFill>
                <a:schemeClr val="accent2">
                  <a:lumMod val="75000"/>
                </a:schemeClr>
              </a:solidFill>
              <a:latin typeface="Lucida Console" panose="020B0609040504020204" pitchFamily="49" charset="0"/>
            </a:endParaRPr>
          </a:p>
          <a:p>
            <a:pPr algn="ctr"/>
            <a:r>
              <a:rPr lang="sr-Cyrl-RS" sz="5300" b="1" spc="400" dirty="0">
                <a:solidFill>
                  <a:schemeClr val="accent2">
                    <a:lumMod val="75000"/>
                  </a:schemeClr>
                </a:solidFill>
                <a:latin typeface="Lucida Console" panose="020B0609040504020204" pitchFamily="49" charset="0"/>
              </a:rPr>
              <a:t>ПРОГРАМИРАЊЕ РЕПОЗИТОРИЈУМА ПОДАТАКА</a:t>
            </a:r>
          </a:p>
          <a:p>
            <a:pPr algn="ctr"/>
            <a:endParaRPr lang="sr-Cyrl-RS" sz="1100" b="1" spc="400" dirty="0">
              <a:solidFill>
                <a:schemeClr val="accent2">
                  <a:lumMod val="75000"/>
                </a:schemeClr>
              </a:solidFill>
              <a:latin typeface="Lucida Console" panose="020B0609040504020204" pitchFamily="49" charset="0"/>
            </a:endParaRPr>
          </a:p>
          <a:p>
            <a:pPr algn="ctr"/>
            <a:r>
              <a:rPr lang="sr-Cyrl-RS" sz="3000" b="1" spc="400" dirty="0">
                <a:solidFill>
                  <a:schemeClr val="accent2">
                    <a:lumMod val="75000"/>
                  </a:schemeClr>
                </a:solidFill>
                <a:latin typeface="Lucida Console" panose="020B0609040504020204" pitchFamily="49" charset="0"/>
              </a:rPr>
              <a:t>Пројекат 10: Систем за праћење грешака у софтверу</a:t>
            </a:r>
            <a:endParaRPr lang="en-US" sz="3000" spc="400" dirty="0">
              <a:solidFill>
                <a:schemeClr val="accent2">
                  <a:lumMod val="75000"/>
                </a:schemeClr>
              </a:solidFill>
              <a:latin typeface="Lucida Console" panose="020B0609040504020204" pitchFamily="49" charset="0"/>
            </a:endParaRPr>
          </a:p>
          <a:p>
            <a:pPr algn="ctr"/>
            <a:endParaRPr lang="en-US" spc="400" dirty="0">
              <a:solidFill>
                <a:schemeClr val="accent2">
                  <a:lumMod val="75000"/>
                </a:schemeClr>
              </a:solidFill>
              <a:latin typeface="Lucida Console" panose="020B0609040504020204" pitchFamily="49" charset="0"/>
            </a:endParaRPr>
          </a:p>
        </p:txBody>
      </p:sp>
      <p:pic>
        <p:nvPicPr>
          <p:cNvPr id="8" name="Picture 2" descr="I:\Sredjeno\FON Administracija\Logo\LogoFONaCir.jpg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02243" y="990600"/>
            <a:ext cx="507557" cy="5361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TextBox 12"/>
          <p:cNvSpPr txBox="1"/>
          <p:nvPr/>
        </p:nvSpPr>
        <p:spPr>
          <a:xfrm>
            <a:off x="250285" y="552510"/>
            <a:ext cx="1295400" cy="4001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sr-Cyrl-RS" sz="2000" b="1">
                <a:solidFill>
                  <a:schemeClr val="accent2">
                    <a:lumMod val="75000"/>
                  </a:schemeClr>
                </a:solidFill>
                <a:latin typeface="Lucida Console" panose="020B0609040504020204" pitchFamily="49" charset="0"/>
              </a:rPr>
              <a:t>УБ</a:t>
            </a:r>
            <a:endParaRPr lang="sr-Cyrl-RS" sz="2000" b="1" dirty="0">
              <a:solidFill>
                <a:schemeClr val="accent2">
                  <a:lumMod val="75000"/>
                </a:schemeClr>
              </a:solidFill>
              <a:latin typeface="Lucida Console" panose="020B0609040504020204" pitchFamily="49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250285" y="1081210"/>
            <a:ext cx="1295400" cy="4001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sr-Cyrl-RS" sz="2000" b="1" dirty="0">
                <a:solidFill>
                  <a:schemeClr val="accent2">
                    <a:lumMod val="75000"/>
                  </a:schemeClr>
                </a:solidFill>
                <a:latin typeface="Lucida Console" panose="020B0609040504020204" pitchFamily="49" charset="0"/>
              </a:rPr>
              <a:t>ФОН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0285" y="1503402"/>
            <a:ext cx="1295400" cy="5539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l-GR" sz="3000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Ξ</a:t>
            </a:r>
            <a:endParaRPr lang="sr-Cyrl-RS" sz="30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266700" y="2112463"/>
            <a:ext cx="1295400" cy="4001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sr-Cyrl-RS" sz="2000" b="1" dirty="0">
                <a:solidFill>
                  <a:schemeClr val="accent2">
                    <a:lumMod val="75000"/>
                  </a:schemeClr>
                </a:solidFill>
                <a:latin typeface="Lucida Console" panose="020B0609040504020204" pitchFamily="49" charset="0"/>
              </a:rPr>
              <a:t>ЛабСИ</a:t>
            </a:r>
            <a:endParaRPr lang="en-US" sz="2400" b="1" dirty="0">
              <a:solidFill>
                <a:schemeClr val="accent2">
                  <a:lumMod val="75000"/>
                </a:schemeClr>
              </a:solidFill>
              <a:latin typeface="Lucida Console" panose="020B0609040504020204" pitchFamily="49" charset="0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250285" y="2646482"/>
            <a:ext cx="1295400" cy="492443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l-GR" sz="2600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πρπ</a:t>
            </a:r>
            <a:endParaRPr lang="en-US" sz="2600" b="1" dirty="0">
              <a:solidFill>
                <a:schemeClr val="accent2">
                  <a:lumMod val="75000"/>
                </a:schemeClr>
              </a:solidFill>
              <a:latin typeface="Lucida Console" panose="020B0609040504020204" pitchFamily="49" charset="0"/>
            </a:endParaRPr>
          </a:p>
        </p:txBody>
      </p:sp>
      <p:sp>
        <p:nvSpPr>
          <p:cNvPr id="20" name="Title 1"/>
          <p:cNvSpPr txBox="1">
            <a:spLocks/>
          </p:cNvSpPr>
          <p:nvPr/>
        </p:nvSpPr>
        <p:spPr>
          <a:xfrm>
            <a:off x="2758207" y="1600200"/>
            <a:ext cx="6172200" cy="396058"/>
          </a:xfrm>
          <a:prstGeom prst="rect">
            <a:avLst/>
          </a:prstGeom>
          <a:ln>
            <a:noFill/>
          </a:ln>
        </p:spPr>
        <p:txBody>
          <a:bodyPr vert="horz" anchor="t" anchorCtr="0">
            <a:normAutofit fontScale="90000" lnSpcReduction="10000"/>
          </a:bodyPr>
          <a:lstStyle>
            <a:lvl1pPr algn="r" rtl="0" eaLnBrk="1" latinLnBrk="0" hangingPunct="1">
              <a:spcBef>
                <a:spcPct val="0"/>
              </a:spcBef>
              <a:buNone/>
              <a:defRPr kumimoji="0" sz="32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sr-Cyrl-RS" sz="2200" dirty="0">
                <a:solidFill>
                  <a:schemeClr val="accent2">
                    <a:lumMod val="75000"/>
                  </a:schemeClr>
                </a:solidFill>
                <a:latin typeface="Lucida Console" panose="020B0609040504020204" pitchFamily="49" charset="0"/>
              </a:rPr>
              <a:t>Катедра за софтверско инжењерство</a:t>
            </a:r>
            <a:r>
              <a:rPr lang="sl-SI" sz="2400" dirty="0"/>
              <a:t> </a:t>
            </a:r>
            <a:endParaRPr lang="en-US" sz="2400" dirty="0"/>
          </a:p>
        </p:txBody>
      </p:sp>
      <p:sp>
        <p:nvSpPr>
          <p:cNvPr id="21" name="Title 1"/>
          <p:cNvSpPr txBox="1">
            <a:spLocks/>
          </p:cNvSpPr>
          <p:nvPr/>
        </p:nvSpPr>
        <p:spPr>
          <a:xfrm>
            <a:off x="2758207" y="2128087"/>
            <a:ext cx="6172200" cy="336231"/>
          </a:xfrm>
          <a:prstGeom prst="rect">
            <a:avLst/>
          </a:prstGeom>
          <a:ln>
            <a:noFill/>
          </a:ln>
        </p:spPr>
        <p:txBody>
          <a:bodyPr vert="horz" anchor="t" anchorCtr="0">
            <a:noAutofit/>
          </a:bodyPr>
          <a:lstStyle>
            <a:lvl1pPr algn="r" rtl="0" eaLnBrk="1" latinLnBrk="0" hangingPunct="1">
              <a:spcBef>
                <a:spcPct val="0"/>
              </a:spcBef>
              <a:buNone/>
              <a:defRPr kumimoji="0" sz="32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sr-Cyrl-RS" sz="2000" dirty="0">
                <a:solidFill>
                  <a:schemeClr val="accent2">
                    <a:lumMod val="75000"/>
                  </a:schemeClr>
                </a:solidFill>
                <a:latin typeface="Lucida Console" panose="020B0609040504020204" pitchFamily="49" charset="0"/>
              </a:rPr>
              <a:t>Лабораторија за софтверско инжењерство</a:t>
            </a:r>
            <a:endParaRPr lang="en-US" sz="2000" dirty="0"/>
          </a:p>
        </p:txBody>
      </p:sp>
      <p:sp>
        <p:nvSpPr>
          <p:cNvPr id="22" name="Title 1"/>
          <p:cNvSpPr txBox="1">
            <a:spLocks/>
          </p:cNvSpPr>
          <p:nvPr/>
        </p:nvSpPr>
        <p:spPr>
          <a:xfrm>
            <a:off x="2758207" y="2707114"/>
            <a:ext cx="6172200" cy="492444"/>
          </a:xfrm>
          <a:prstGeom prst="rect">
            <a:avLst/>
          </a:prstGeom>
          <a:ln>
            <a:noFill/>
          </a:ln>
        </p:spPr>
        <p:txBody>
          <a:bodyPr vert="horz" anchor="t" anchorCtr="0">
            <a:noAutofit/>
          </a:bodyPr>
          <a:lstStyle>
            <a:lvl1pPr algn="r" rtl="0" eaLnBrk="1" latinLnBrk="0" hangingPunct="1">
              <a:spcBef>
                <a:spcPct val="0"/>
              </a:spcBef>
              <a:buNone/>
              <a:defRPr kumimoji="0" sz="32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sr-Cyrl-RS" sz="2000" dirty="0">
                <a:solidFill>
                  <a:schemeClr val="accent2">
                    <a:lumMod val="75000"/>
                  </a:schemeClr>
                </a:solidFill>
                <a:latin typeface="Lucida Console" panose="020B0609040504020204" pitchFamily="49" charset="0"/>
              </a:rPr>
              <a:t>Програмирање репозиторијума података</a:t>
            </a:r>
            <a:endParaRPr lang="en-US" sz="2000" dirty="0"/>
          </a:p>
        </p:txBody>
      </p:sp>
      <p:sp>
        <p:nvSpPr>
          <p:cNvPr id="24" name="Title 1"/>
          <p:cNvSpPr txBox="1">
            <a:spLocks/>
          </p:cNvSpPr>
          <p:nvPr/>
        </p:nvSpPr>
        <p:spPr>
          <a:xfrm>
            <a:off x="2758207" y="538774"/>
            <a:ext cx="6172200" cy="413845"/>
          </a:xfrm>
          <a:prstGeom prst="rect">
            <a:avLst/>
          </a:prstGeom>
          <a:ln>
            <a:noFill/>
          </a:ln>
        </p:spPr>
        <p:txBody>
          <a:bodyPr vert="horz" anchor="t" anchorCtr="0">
            <a:normAutofit fontScale="97500"/>
          </a:bodyPr>
          <a:lstStyle>
            <a:lvl1pPr algn="r" rtl="0" eaLnBrk="1" latinLnBrk="0" hangingPunct="1">
              <a:spcBef>
                <a:spcPct val="0"/>
              </a:spcBef>
              <a:buNone/>
              <a:defRPr kumimoji="0" sz="32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sr-Cyrl-RS" sz="2000" dirty="0">
                <a:solidFill>
                  <a:schemeClr val="accent2">
                    <a:lumMod val="75000"/>
                  </a:schemeClr>
                </a:solidFill>
                <a:latin typeface="Lucida Console" panose="020B0609040504020204" pitchFamily="49" charset="0"/>
              </a:rPr>
              <a:t>Универзитет у Београду</a:t>
            </a:r>
            <a:endParaRPr lang="en-US" sz="2000" dirty="0"/>
          </a:p>
        </p:txBody>
      </p:sp>
      <p:pic>
        <p:nvPicPr>
          <p:cNvPr id="5" name="Picture 2" descr="I:\Sredjeno\eFotografije\Logo Bgd univerziteta.jpg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6400" y="356377"/>
            <a:ext cx="566472" cy="6058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87550" y="2059434"/>
            <a:ext cx="674650" cy="5061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1718867" y="2696995"/>
            <a:ext cx="523774" cy="5237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0438040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3200" b="1"/>
              <a:t>Проблем</a:t>
            </a:r>
            <a:endParaRPr lang="en-US" dirty="0"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7" name="Čuvar mesta za datum 2">
            <a:extLst>
              <a:ext uri="{FF2B5EF4-FFF2-40B4-BE49-F238E27FC236}">
                <a16:creationId xmlns:a16="http://schemas.microsoft.com/office/drawing/2014/main" id="{8CE5309C-1AB1-BEB3-D3FB-D9C998827AD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400800" y="6356350"/>
            <a:ext cx="2289048" cy="365760"/>
          </a:xfrm>
        </p:spPr>
        <p:txBody>
          <a:bodyPr/>
          <a:lstStyle/>
          <a:p>
            <a:pPr algn="r"/>
            <a:fld id="{3A5BF23F-728E-4173-9525-7A77EB0D6E66}" type="datetime1">
              <a:rPr lang="sr-Cyrl-RS" smtClean="0"/>
              <a:t>31.08.2026.</a:t>
            </a:fld>
            <a:endParaRPr lang="en-US" dirty="0"/>
          </a:p>
        </p:txBody>
      </p:sp>
      <p:sp>
        <p:nvSpPr>
          <p:cNvPr id="8" name="Čuvar mesta za podnožje 3">
            <a:extLst>
              <a:ext uri="{FF2B5EF4-FFF2-40B4-BE49-F238E27FC236}">
                <a16:creationId xmlns:a16="http://schemas.microsoft.com/office/drawing/2014/main" id="{0589EEFC-D5FD-A096-37FA-639E28A36B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898648" y="6356350"/>
            <a:ext cx="3505200" cy="365760"/>
          </a:xfrm>
        </p:spPr>
        <p:txBody>
          <a:bodyPr/>
          <a:lstStyle/>
          <a:p>
            <a:pPr algn="ctr"/>
            <a:r>
              <a:rPr lang="el-GR">
                <a:latin typeface="Times New Roman" panose="02020603050405020304" pitchFamily="18" charset="0"/>
                <a:cs typeface="Times New Roman" panose="02020603050405020304" pitchFamily="18" charset="0"/>
              </a:rPr>
              <a:t>|   φον   |   Ξ   | πρπ |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AF26A3B-697C-4771-AFBF-DE8C29D9364F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457200" y="1234440"/>
            <a:ext cx="3931920" cy="4480560"/>
          </a:xfrm>
        </p:spPr>
        <p:txBody>
          <a:bodyPr wrap="square">
            <a:normAutofit/>
          </a:bodyPr>
          <a:lstStyle/>
          <a:p>
            <a:pPr>
              <a:spcAft>
                <a:spcPts val="1000"/>
              </a:spcAft>
            </a:pPr>
            <a:r>
              <a:rPr sz="1500"/>
              <a:t>Тимови воде евиденцију грешака у софтверу: ко је шта пријавио, на ком пројекту, у ком стању је грешка и шта је до сада урађено на њој.</a:t>
            </a:r>
          </a:p>
          <a:p>
            <a:pPr>
              <a:spcAft>
                <a:spcPts val="1000"/>
              </a:spcAft>
            </a:pPr>
            <a:r>
              <a:rPr sz="1500"/>
              <a:t>Модел: пројекат има нула или више грешака, грешка нула или више коментара.</a:t>
            </a:r>
          </a:p>
          <a:p>
            <a:pPr>
              <a:spcAft>
                <a:spcPts val="1000"/>
              </a:spcAft>
            </a:pPr>
            <a:r>
              <a:rPr sz="1500"/>
              <a:t>Коментар није обичан текст него XML, јер уз опис носи и приоритет, окружење и ознаке.</a:t>
            </a:r>
          </a:p>
          <a:p>
            <a:pPr>
              <a:spcAft>
                <a:spcPts val="1000"/>
              </a:spcAft>
            </a:pPr>
            <a:r>
              <a:rPr sz="1500"/>
              <a:t>Систему приступају две различите групе корисника, програмери и контрола квалитета, и не смеју видети исто.</a:t>
            </a:r>
          </a:p>
        </p:txBody>
      </p:sp>
      <p:pic>
        <p:nvPicPr>
          <p:cNvPr id="9" name="Picture 8" descr="slika1_der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23559" y="1463040"/>
            <a:ext cx="3108960" cy="23455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86337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DB492CCF-3CAF-4D69-9E9B-F5D31281F456}" type="datetime1">
              <a:rPr lang="sr-Cyrl-RS" smtClean="0"/>
              <a:t>31.08.2026.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/>
            <a:r>
              <a:rPr lang="el-GR">
                <a:latin typeface="Times New Roman" panose="02020603050405020304" pitchFamily="18" charset="0"/>
                <a:cs typeface="Times New Roman" panose="02020603050405020304" pitchFamily="18" charset="0"/>
              </a:rPr>
              <a:t>|   φον   |   Ξ   | πρπ |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</a:t>
            </a:fld>
            <a:endParaRPr lang="en-US" dirty="0"/>
          </a:p>
        </p:txBody>
      </p:sp>
      <p:pic>
        <p:nvPicPr>
          <p:cNvPr id="7" name="Picture 2" descr="I:\Sredjeno\eFotografije\Logo Bgd univerziteta.jpg"/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4291" y="4233581"/>
            <a:ext cx="1602988" cy="1714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-100000" contras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54579" y="4216860"/>
            <a:ext cx="1548988" cy="17312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TextBox 5"/>
          <p:cNvSpPr txBox="1"/>
          <p:nvPr/>
        </p:nvSpPr>
        <p:spPr>
          <a:xfrm>
            <a:off x="1673298" y="1142999"/>
            <a:ext cx="5627347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sr-Cyrl-RS" sz="3200" dirty="0">
                <a:ea typeface="+mj-ea"/>
                <a:cs typeface="+mj-cs"/>
              </a:rPr>
              <a:t>Универзитет, </a:t>
            </a:r>
            <a:br>
              <a:rPr lang="sr-Cyrl-RS" sz="3200" dirty="0">
                <a:ea typeface="+mj-ea"/>
                <a:cs typeface="+mj-cs"/>
              </a:rPr>
            </a:br>
            <a:r>
              <a:rPr lang="sr-Cyrl-RS" sz="3200" dirty="0">
                <a:ea typeface="+mj-ea"/>
                <a:cs typeface="+mj-cs"/>
              </a:rPr>
              <a:t>факултет, </a:t>
            </a:r>
            <a:br>
              <a:rPr lang="sr-Cyrl-RS" sz="3200" dirty="0">
                <a:ea typeface="+mj-ea"/>
                <a:cs typeface="+mj-cs"/>
              </a:rPr>
            </a:br>
            <a:r>
              <a:rPr lang="sr-Cyrl-RS" sz="3200" dirty="0">
                <a:ea typeface="+mj-ea"/>
                <a:cs typeface="+mj-cs"/>
              </a:rPr>
              <a:t>катедра, </a:t>
            </a:r>
            <a:br>
              <a:rPr lang="sr-Cyrl-RS" sz="3200" dirty="0">
                <a:ea typeface="+mj-ea"/>
                <a:cs typeface="+mj-cs"/>
              </a:rPr>
            </a:br>
            <a:r>
              <a:rPr lang="sr-Cyrl-RS" sz="3200" dirty="0">
                <a:ea typeface="+mj-ea"/>
                <a:cs typeface="+mj-cs"/>
              </a:rPr>
              <a:t>лабораторија, </a:t>
            </a:r>
            <a:br>
              <a:rPr lang="sr-Cyrl-RS" sz="3200" dirty="0">
                <a:ea typeface="+mj-ea"/>
                <a:cs typeface="+mj-cs"/>
              </a:rPr>
            </a:br>
            <a:r>
              <a:rPr lang="sr-Cyrl-RS" sz="3200" dirty="0">
                <a:ea typeface="+mj-ea"/>
                <a:cs typeface="+mj-cs"/>
              </a:rPr>
              <a:t>предмет</a:t>
            </a:r>
            <a:endParaRPr lang="en-US" dirty="0"/>
          </a:p>
        </p:txBody>
      </p:sp>
      <p:pic>
        <p:nvPicPr>
          <p:cNvPr id="9" name="Picture 2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58118" y="4576480"/>
            <a:ext cx="1305792" cy="97969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" name="Picture 2" descr="I:\Sredjeno\FON Administracija\Logo\LogoFONaCir.jpg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sharpenSoften amount="100000"/>
                    </a14:imgEffect>
                    <a14:imgEffect>
                      <a14:brightnessContrast contrast="1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08715" y="4158115"/>
            <a:ext cx="1529885" cy="17899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0" name="Group 9"/>
          <p:cNvGrpSpPr/>
          <p:nvPr/>
        </p:nvGrpSpPr>
        <p:grpSpPr>
          <a:xfrm>
            <a:off x="7184126" y="4054298"/>
            <a:ext cx="1025583" cy="1836086"/>
            <a:chOff x="7184126" y="4060748"/>
            <a:chExt cx="816874" cy="1485104"/>
          </a:xfrm>
        </p:grpSpPr>
        <p:grpSp>
          <p:nvGrpSpPr>
            <p:cNvPr id="16" name="Group 15"/>
            <p:cNvGrpSpPr/>
            <p:nvPr/>
          </p:nvGrpSpPr>
          <p:grpSpPr>
            <a:xfrm>
              <a:off x="7184126" y="4575721"/>
              <a:ext cx="816874" cy="970131"/>
              <a:chOff x="7391400" y="4575721"/>
              <a:chExt cx="816874" cy="970131"/>
            </a:xfrm>
          </p:grpSpPr>
          <p:pic>
            <p:nvPicPr>
              <p:cNvPr id="14" name="Picture 2"/>
              <p:cNvPicPr>
                <a:picLocks noChangeAspect="1" noChangeArrowheads="1"/>
              </p:cNvPicPr>
              <p:nvPr/>
            </p:nvPicPr>
            <p:blipFill>
              <a:blip r:embed="rId9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 bwMode="auto">
              <a:xfrm>
                <a:off x="7471211" y="4575721"/>
                <a:ext cx="657251" cy="65725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5" name="TextBox 14"/>
              <p:cNvSpPr txBox="1"/>
              <p:nvPr/>
            </p:nvSpPr>
            <p:spPr>
              <a:xfrm>
                <a:off x="7391400" y="5147543"/>
                <a:ext cx="816874" cy="39830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l-GR" sz="26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πρπ</a:t>
                </a:r>
                <a:endParaRPr lang="en-US" sz="2600" b="1" dirty="0">
                  <a:latin typeface="Lucida Console" panose="020B0609040504020204" pitchFamily="49" charset="0"/>
                </a:endParaRPr>
              </a:p>
            </p:txBody>
          </p:sp>
        </p:grpSp>
        <p:pic>
          <p:nvPicPr>
            <p:cNvPr id="17" name="Picture 3"/>
            <p:cNvPicPr>
              <a:picLocks noChangeAspect="1" noChangeArrowheads="1"/>
            </p:cNvPicPr>
            <p:nvPr/>
          </p:nvPicPr>
          <p:blipFill>
            <a:blip r:embed="rId4"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sharpenSoften amount="100000"/>
                      </a14:imgEffect>
                      <a14:imgEffect>
                        <a14:brightnessContrast bright="-100000" contrast="1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281816" y="4060748"/>
              <a:ext cx="621494" cy="6858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  <p:pic>
        <p:nvPicPr>
          <p:cNvPr id="18" name="image2.jpg"/>
          <p:cNvPicPr/>
          <p:nvPr/>
        </p:nvPicPr>
        <p:blipFill>
          <a:blip r:embed="rId10"/>
          <a:srcRect/>
          <a:stretch>
            <a:fillRect/>
          </a:stretch>
        </p:blipFill>
        <p:spPr>
          <a:xfrm>
            <a:off x="1177998" y="2831465"/>
            <a:ext cx="990600" cy="1252220"/>
          </a:xfrm>
          <a:prstGeom prst="rect">
            <a:avLst/>
          </a:prstGeom>
          <a:ln/>
        </p:spPr>
      </p:pic>
    </p:spTree>
    <p:extLst>
      <p:ext uri="{BB962C8B-B14F-4D97-AF65-F5344CB8AC3E}">
        <p14:creationId xmlns:p14="http://schemas.microsoft.com/office/powerpoint/2010/main" val="3170033000"/>
      </p:ext>
    </p:extLst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/>
              <a:t>Технологије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quarter"/>
          </p:nvPr>
        </p:nvSpPr>
        <p:spPr>
          <a:xfrm>
            <a:off x="457200" y="1234440"/>
            <a:ext cx="8138160" cy="4480560"/>
          </a:xfrm>
        </p:spPr>
        <p:txBody>
          <a:bodyPr wrap="square"/>
          <a:lstStyle/>
          <a:p>
            <a:pPr>
              <a:spcAft>
                <a:spcPts val="1000"/>
              </a:spcAft>
            </a:pPr>
            <a:r>
              <a:rPr sz="1700"/>
              <a:t>SQL Server 2022, Developer Edition. Ту је тежиште пројекта.</a:t>
            </a:r>
          </a:p>
          <a:p>
            <a:pPr>
              <a:spcAft>
                <a:spcPts val="1000"/>
              </a:spcAft>
            </a:pPr>
            <a:r>
              <a:rPr sz="1700"/>
              <a:t>T-SQL: процедуре, функције, тригери, погледи, PIVOT, OUTPUT.</a:t>
            </a:r>
          </a:p>
          <a:p>
            <a:pPr>
              <a:spcAft>
                <a:spcPts val="1000"/>
              </a:spcAft>
            </a:pPr>
            <a:r>
              <a:rPr sz="1700"/>
              <a:t>Full-Text Search са српским ћириличким word breaker-ом.</a:t>
            </a:r>
          </a:p>
          <a:p>
            <a:pPr>
              <a:spcAft>
                <a:spcPts val="1000"/>
              </a:spcAft>
            </a:pPr>
            <a:r>
              <a:rPr sz="1700"/>
              <a:t>XML тип и XQuery за садржај коментара.</a:t>
            </a:r>
          </a:p>
          <a:p>
            <a:pPr>
              <a:spcAft>
                <a:spcPts val="1000"/>
              </a:spcAft>
            </a:pPr>
            <a:r>
              <a:rPr sz="1700"/>
              <a:t>SQLCLR: агрегатна функција написана у C#.</a:t>
            </a:r>
          </a:p>
          <a:p>
            <a:pPr>
              <a:spcAft>
                <a:spcPts val="1000"/>
              </a:spcAft>
            </a:pPr>
            <a:r>
              <a:rPr sz="1700"/>
              <a:t>C# и .NET за две конзолне апликације. Docker за инстанцу базе.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7" name="Čuvar mesta za datum 2">
            <a:extLst>
              <a:ext uri="{FF2B5EF4-FFF2-40B4-BE49-F238E27FC236}">
                <a16:creationId xmlns:a16="http://schemas.microsoft.com/office/drawing/2014/main" id="{8CE5309C-1AB1-BEB3-D3FB-D9C998827AD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400800" y="6356350"/>
            <a:ext cx="2289048" cy="365760"/>
          </a:xfrm>
        </p:spPr>
        <p:txBody>
          <a:bodyPr/>
          <a:lstStyle/>
          <a:p>
            <a:pPr algn="r"/>
            <a:fld id="{3A5BF23F-728E-4173-9525-7A77EB0D6E66}" type="datetime1">
              <a:rPr lang="sr-Cyrl-RS" smtClean="0"/>
              <a:t>31.08.2026.</a:t>
            </a:fld>
            <a:endParaRPr lang="en-US" dirty="0"/>
          </a:p>
        </p:txBody>
      </p:sp>
      <p:sp>
        <p:nvSpPr>
          <p:cNvPr id="8" name="Čuvar mesta za podnožje 3">
            <a:extLst>
              <a:ext uri="{FF2B5EF4-FFF2-40B4-BE49-F238E27FC236}">
                <a16:creationId xmlns:a16="http://schemas.microsoft.com/office/drawing/2014/main" id="{0589EEFC-D5FD-A096-37FA-639E28A36B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898648" y="6356350"/>
            <a:ext cx="3505200" cy="365760"/>
          </a:xfrm>
        </p:spPr>
        <p:txBody>
          <a:bodyPr/>
          <a:lstStyle/>
          <a:p>
            <a:pPr algn="ctr"/>
            <a:r>
              <a:rPr lang="el-GR">
                <a:latin typeface="Times New Roman" panose="02020603050405020304" pitchFamily="18" charset="0"/>
                <a:cs typeface="Times New Roman" panose="02020603050405020304" pitchFamily="18" charset="0"/>
              </a:rPr>
              <a:t>|   φον   |   Ξ   | πρπ |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/>
              <a:t>Архитектура: база као апстрактан тип података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quarter"/>
          </p:nvPr>
        </p:nvSpPr>
        <p:spPr>
          <a:xfrm>
            <a:off x="457200" y="1234440"/>
            <a:ext cx="3931920" cy="4480560"/>
          </a:xfrm>
        </p:spPr>
        <p:txBody>
          <a:bodyPr wrap="square"/>
          <a:lstStyle/>
          <a:p>
            <a:pPr>
              <a:spcAft>
                <a:spcPts val="1000"/>
              </a:spcAft>
            </a:pPr>
            <a:r>
              <a:rPr sz="1500"/>
              <a:t>Три слоја кроз схеме, смер зависности је строг.</a:t>
            </a:r>
          </a:p>
          <a:p>
            <a:pPr>
              <a:spcAft>
                <a:spcPts val="1000"/>
              </a:spcAft>
            </a:pPr>
            <a:r>
              <a:rPr sz="1500"/>
              <a:t>impl је приватан, spec је јавна спецификација и сав је шифрован, api_dev и api_qa су уговор према апликацијама.</a:t>
            </a:r>
          </a:p>
          <a:p>
            <a:pPr>
              <a:spcAft>
                <a:spcPts val="1000"/>
              </a:spcAft>
            </a:pPr>
            <a:r>
              <a:rPr sz="1500"/>
              <a:t>Апликација никада не додирује табелу.</a:t>
            </a:r>
          </a:p>
        </p:txBody>
      </p:sp>
      <p:pic>
        <p:nvPicPr>
          <p:cNvPr id="4" name="Picture 3" descr="slika2_arhitektu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7639" y="1463040"/>
            <a:ext cx="4754880" cy="2852928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7" name="Čuvar mesta za datum 2">
            <a:extLst>
              <a:ext uri="{FF2B5EF4-FFF2-40B4-BE49-F238E27FC236}">
                <a16:creationId xmlns:a16="http://schemas.microsoft.com/office/drawing/2014/main" id="{8CE5309C-1AB1-BEB3-D3FB-D9C998827AD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400800" y="6356350"/>
            <a:ext cx="2289048" cy="365760"/>
          </a:xfrm>
        </p:spPr>
        <p:txBody>
          <a:bodyPr/>
          <a:lstStyle/>
          <a:p>
            <a:pPr algn="r"/>
            <a:fld id="{3A5BF23F-728E-4173-9525-7A77EB0D6E66}" type="datetime1">
              <a:rPr lang="sr-Cyrl-RS" smtClean="0"/>
              <a:t>31.08.2026.</a:t>
            </a:fld>
            <a:endParaRPr lang="en-US" dirty="0"/>
          </a:p>
        </p:txBody>
      </p:sp>
      <p:sp>
        <p:nvSpPr>
          <p:cNvPr id="8" name="Čuvar mesta za podnožje 3">
            <a:extLst>
              <a:ext uri="{FF2B5EF4-FFF2-40B4-BE49-F238E27FC236}">
                <a16:creationId xmlns:a16="http://schemas.microsoft.com/office/drawing/2014/main" id="{0589EEFC-D5FD-A096-37FA-639E28A36B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898648" y="6356350"/>
            <a:ext cx="3505200" cy="365760"/>
          </a:xfrm>
        </p:spPr>
        <p:txBody>
          <a:bodyPr/>
          <a:lstStyle/>
          <a:p>
            <a:pPr algn="ctr"/>
            <a:r>
              <a:rPr lang="el-GR">
                <a:latin typeface="Times New Roman" panose="02020603050405020304" pitchFamily="18" charset="0"/>
                <a:cs typeface="Times New Roman" panose="02020603050405020304" pitchFamily="18" charset="0"/>
              </a:rPr>
              <a:t>|   φον   |   Ξ   | πρπ |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/>
              <a:t>Табеле и ограничења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quarter"/>
          </p:nvPr>
        </p:nvSpPr>
        <p:spPr>
          <a:xfrm>
            <a:off x="457200" y="1234440"/>
            <a:ext cx="8138160" cy="1600200"/>
          </a:xfrm>
        </p:spPr>
        <p:txBody>
          <a:bodyPr wrap="square"/>
          <a:lstStyle/>
          <a:p>
            <a:pPr>
              <a:spcAft>
                <a:spcPts val="600"/>
              </a:spcAft>
            </a:pPr>
            <a:r>
              <a:rPr sz="1400"/>
              <a:t>Прво декларативно. Двадесет седам именованих ограничења.</a:t>
            </a:r>
          </a:p>
          <a:p>
            <a:pPr>
              <a:spcAft>
                <a:spcPts val="600"/>
              </a:spcAft>
            </a:pPr>
            <a:r>
              <a:rPr sz="1400"/>
              <a:t>Један страни кључ покрива два реда СПИ табеле: нема грешке без пројекта, нема брисања пројекта који има грешке.</a:t>
            </a:r>
          </a:p>
          <a:p>
            <a:pPr>
              <a:spcAft>
                <a:spcPts val="600"/>
              </a:spcAft>
            </a:pPr>
            <a:r>
              <a:rPr sz="1400"/>
              <a:t>Брисање грешке брише и њене коментаре.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2971800"/>
            <a:ext cx="8138160" cy="3063239"/>
          </a:xfrm>
          <a:prstGeom prst="rect">
            <a:avLst/>
          </a:prstGeom>
          <a:solidFill>
            <a:srgbClr val="F2F4F7"/>
          </a:solidFill>
          <a:ln>
            <a:solidFill>
              <a:srgbClr val="C8CED8"/>
            </a:solidFill>
          </a:ln>
        </p:spPr>
        <p:txBody>
          <a:bodyPr wrap="none" lIns="109728" tIns="73152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1F2A44"/>
                </a:solidFill>
                <a:latin typeface="Courier New"/>
              </a:rPr>
              <a:t>CONSTRAINT CK_Greska_Ozbiljnost CHECK (Ozbiljnost BETWEEN 1 AND 5),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1F2A44"/>
                </a:solidFill>
                <a:latin typeface="Courier New"/>
              </a:rPr>
              <a:t>CONSTRAINT CK_Greska_StatusGr   CHECK (StatusGr IN (N'Отворена', N'УПроцесуРешавања',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1F2A44"/>
                </a:solidFill>
                <a:latin typeface="Courier New"/>
              </a:rPr>
              <a:t>                                                    N'Решена',  N'Затворена')),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1F2A44"/>
                </a:solidFill>
                <a:latin typeface="Courier New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1F2A44"/>
                </a:solidFill>
                <a:latin typeface="Courier New"/>
              </a:rPr>
              <a:t>CONSTRAINT FK_Komentar_Greska FOREIGN KEY (IdGreske)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1F2A44"/>
                </a:solidFill>
                <a:latin typeface="Courier New"/>
              </a:rPr>
              <a:t>    REFERENCES impl.tblGreska (Id) ON DELETE CASCADE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7" name="Čuvar mesta za datum 2">
            <a:extLst>
              <a:ext uri="{FF2B5EF4-FFF2-40B4-BE49-F238E27FC236}">
                <a16:creationId xmlns:a16="http://schemas.microsoft.com/office/drawing/2014/main" id="{8CE5309C-1AB1-BEB3-D3FB-D9C998827AD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400800" y="6356350"/>
            <a:ext cx="2289048" cy="365760"/>
          </a:xfrm>
        </p:spPr>
        <p:txBody>
          <a:bodyPr/>
          <a:lstStyle/>
          <a:p>
            <a:pPr algn="r"/>
            <a:fld id="{3A5BF23F-728E-4173-9525-7A77EB0D6E66}" type="datetime1">
              <a:rPr lang="sr-Cyrl-RS" smtClean="0"/>
              <a:t>31.08.2026.</a:t>
            </a:fld>
            <a:endParaRPr lang="en-US" dirty="0"/>
          </a:p>
        </p:txBody>
      </p:sp>
      <p:sp>
        <p:nvSpPr>
          <p:cNvPr id="8" name="Čuvar mesta za podnožje 3">
            <a:extLst>
              <a:ext uri="{FF2B5EF4-FFF2-40B4-BE49-F238E27FC236}">
                <a16:creationId xmlns:a16="http://schemas.microsoft.com/office/drawing/2014/main" id="{0589EEFC-D5FD-A096-37FA-639E28A36B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898648" y="6356350"/>
            <a:ext cx="3505200" cy="365760"/>
          </a:xfrm>
        </p:spPr>
        <p:txBody>
          <a:bodyPr/>
          <a:lstStyle/>
          <a:p>
            <a:pPr algn="ctr"/>
            <a:r>
              <a:rPr lang="el-GR">
                <a:latin typeface="Times New Roman" panose="02020603050405020304" pitchFamily="18" charset="0"/>
                <a:cs typeface="Times New Roman" panose="02020603050405020304" pitchFamily="18" charset="0"/>
              </a:rPr>
              <a:t>|   φον   |   Ξ   | πρπ |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/>
              <a:t>Тригер и процедуре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quarter"/>
          </p:nvPr>
        </p:nvSpPr>
        <p:spPr>
          <a:xfrm>
            <a:off x="457200" y="1234440"/>
            <a:ext cx="8138160" cy="1600200"/>
          </a:xfrm>
        </p:spPr>
        <p:txBody>
          <a:bodyPr wrap="square"/>
          <a:lstStyle/>
          <a:p>
            <a:pPr>
              <a:spcAft>
                <a:spcPts val="600"/>
              </a:spcAft>
            </a:pPr>
            <a:r>
              <a:rPr sz="1400"/>
              <a:t>Тригер ради оно што ограничење не може: поводом уноса коментара мења статус грешке.</a:t>
            </a:r>
          </a:p>
          <a:p>
            <a:pPr>
              <a:spcAft>
                <a:spcPts val="600"/>
              </a:spcAft>
            </a:pPr>
            <a:r>
              <a:rPr sz="1400"/>
              <a:t>Процедуре враћају пословну поруку из табела СПИ и ВПИ, не техничку поруку сервера.</a:t>
            </a:r>
          </a:p>
          <a:p>
            <a:pPr>
              <a:spcAft>
                <a:spcPts val="600"/>
              </a:spcAft>
            </a:pPr>
            <a:r>
              <a:rPr sz="1400"/>
              <a:t>CATCH прво поништи трансакцију, па упише грешку у дневник, иначе би и упис био поништен.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2971800"/>
            <a:ext cx="8138160" cy="3063239"/>
          </a:xfrm>
          <a:prstGeom prst="rect">
            <a:avLst/>
          </a:prstGeom>
          <a:solidFill>
            <a:srgbClr val="F2F4F7"/>
          </a:solidFill>
          <a:ln>
            <a:solidFill>
              <a:srgbClr val="C8CED8"/>
            </a:solidFill>
          </a:ln>
        </p:spPr>
        <p:txBody>
          <a:bodyPr wrap="none" lIns="109728" tIns="73152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1F2A44"/>
                </a:solidFill>
                <a:latin typeface="Courier New"/>
              </a:rPr>
              <a:t>IF NOT EXISTS (SELECT 1 FROM impl.tblProjekat WHERE Id = @idProjekta)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1F2A44"/>
                </a:solidFill>
                <a:latin typeface="Courier New"/>
              </a:rPr>
              <a:t>    THROW 50010, N'Пројекат не постоји. Није могуће убацити ГРЕШКУ.', 1;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1F2A44"/>
                </a:solidFill>
                <a:latin typeface="Courier New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1F2A44"/>
                </a:solidFill>
                <a:latin typeface="Courier New"/>
              </a:rPr>
              <a:t>BEGIN CATCH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1F2A44"/>
                </a:solidFill>
                <a:latin typeface="Courier New"/>
              </a:rPr>
              <a:t>    IF XACT_STATE() &lt;&gt; 0 ROLLBACK TRANSACTION;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1F2A44"/>
                </a:solidFill>
                <a:latin typeface="Courier New"/>
              </a:rPr>
              <a:t>    EXEC impl.uprLogujGresku N'spec.upr_PrijaviGresku', @eBroj, @eNivo, ... 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1F2A44"/>
                </a:solidFill>
                <a:latin typeface="Courier New"/>
              </a:rPr>
              <a:t>    THROW;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1F2A44"/>
                </a:solidFill>
                <a:latin typeface="Courier New"/>
              </a:rPr>
              <a:t>END CATCH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7" name="Čuvar mesta za datum 2">
            <a:extLst>
              <a:ext uri="{FF2B5EF4-FFF2-40B4-BE49-F238E27FC236}">
                <a16:creationId xmlns:a16="http://schemas.microsoft.com/office/drawing/2014/main" id="{8CE5309C-1AB1-BEB3-D3FB-D9C998827AD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400800" y="6356350"/>
            <a:ext cx="2289048" cy="365760"/>
          </a:xfrm>
        </p:spPr>
        <p:txBody>
          <a:bodyPr/>
          <a:lstStyle/>
          <a:p>
            <a:pPr algn="r"/>
            <a:fld id="{3A5BF23F-728E-4173-9525-7A77EB0D6E66}" type="datetime1">
              <a:rPr lang="sr-Cyrl-RS" smtClean="0"/>
              <a:t>31.08.2026.</a:t>
            </a:fld>
            <a:endParaRPr lang="en-US" dirty="0"/>
          </a:p>
        </p:txBody>
      </p:sp>
      <p:sp>
        <p:nvSpPr>
          <p:cNvPr id="8" name="Čuvar mesta za podnožje 3">
            <a:extLst>
              <a:ext uri="{FF2B5EF4-FFF2-40B4-BE49-F238E27FC236}">
                <a16:creationId xmlns:a16="http://schemas.microsoft.com/office/drawing/2014/main" id="{0589EEFC-D5FD-A096-37FA-639E28A36B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898648" y="6356350"/>
            <a:ext cx="3505200" cy="365760"/>
          </a:xfrm>
        </p:spPr>
        <p:txBody>
          <a:bodyPr/>
          <a:lstStyle/>
          <a:p>
            <a:pPr algn="ctr"/>
            <a:r>
              <a:rPr lang="el-GR">
                <a:latin typeface="Times New Roman" panose="02020603050405020304" pitchFamily="18" charset="0"/>
                <a:cs typeface="Times New Roman" panose="02020603050405020304" pitchFamily="18" charset="0"/>
              </a:rPr>
              <a:t>|   φον   |   Ξ   | πρπ |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/>
              <a:t>Претрага: Full-Text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quarter"/>
          </p:nvPr>
        </p:nvSpPr>
        <p:spPr>
          <a:xfrm>
            <a:off x="457200" y="1234440"/>
            <a:ext cx="8138160" cy="1600200"/>
          </a:xfrm>
        </p:spPr>
        <p:txBody>
          <a:bodyPr wrap="square"/>
          <a:lstStyle/>
          <a:p>
            <a:pPr>
              <a:spcAft>
                <a:spcPts val="600"/>
              </a:spcAft>
            </a:pPr>
            <a:r>
              <a:rPr sz="1400"/>
              <a:t>Индекс над текстом грешке, описом пројекта и XML садржајем коментара.</a:t>
            </a:r>
          </a:p>
          <a:p>
            <a:pPr>
              <a:spcAft>
                <a:spcPts val="600"/>
              </a:spcAft>
            </a:pPr>
            <a:r>
              <a:rPr sz="1400"/>
              <a:t>Језик индекса је Serbian (Cyrillic), иначе би се ћирилица секла само по размацима.</a:t>
            </a:r>
          </a:p>
          <a:p>
            <a:pPr>
              <a:spcAft>
                <a:spcPts val="600"/>
              </a:spcAft>
            </a:pPr>
            <a:r>
              <a:rPr sz="1400"/>
              <a:t>Апликација нуди два режима: напредни са операторима и слободни, где корисник укуца реченицу.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2971800"/>
            <a:ext cx="8138160" cy="3063239"/>
          </a:xfrm>
          <a:prstGeom prst="rect">
            <a:avLst/>
          </a:prstGeom>
          <a:solidFill>
            <a:srgbClr val="F2F4F7"/>
          </a:solidFill>
          <a:ln>
            <a:solidFill>
              <a:srgbClr val="C8CED8"/>
            </a:solidFill>
          </a:ln>
        </p:spPr>
        <p:txBody>
          <a:bodyPr wrap="none" lIns="109728" tIns="73152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1F2A44"/>
                </a:solidFill>
                <a:latin typeface="Courier New"/>
              </a:rPr>
              <a:t>CONTAINS(Poruka, N'"учита*" AND NOT Safari')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1F2A44"/>
                </a:solidFill>
                <a:latin typeface="Courier New"/>
              </a:rPr>
              <a:t>CONTAINS(Poruka, N'NEAR((Апликација, руши), 3, FALSE)')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1F2A44"/>
                </a:solidFill>
                <a:latin typeface="Courier New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1F2A44"/>
                </a:solidFill>
                <a:latin typeface="Courier New"/>
              </a:rPr>
              <a:t>-- исти низ без оператора: CONTAINS пуца, FREETEXT ради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1F2A44"/>
                </a:solidFill>
                <a:latin typeface="Courier New"/>
              </a:rPr>
              <a:t>FREETEXT(Poruka, N'корисник лозинка пријава')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7" name="Čuvar mesta za datum 2">
            <a:extLst>
              <a:ext uri="{FF2B5EF4-FFF2-40B4-BE49-F238E27FC236}">
                <a16:creationId xmlns:a16="http://schemas.microsoft.com/office/drawing/2014/main" id="{8CE5309C-1AB1-BEB3-D3FB-D9C998827AD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400800" y="6356350"/>
            <a:ext cx="2289048" cy="365760"/>
          </a:xfrm>
        </p:spPr>
        <p:txBody>
          <a:bodyPr/>
          <a:lstStyle/>
          <a:p>
            <a:pPr algn="r"/>
            <a:fld id="{3A5BF23F-728E-4173-9525-7A77EB0D6E66}" type="datetime1">
              <a:rPr lang="sr-Cyrl-RS" smtClean="0"/>
              <a:t>31.08.2026.</a:t>
            </a:fld>
            <a:endParaRPr lang="en-US" dirty="0"/>
          </a:p>
        </p:txBody>
      </p:sp>
      <p:sp>
        <p:nvSpPr>
          <p:cNvPr id="8" name="Čuvar mesta za podnožje 3">
            <a:extLst>
              <a:ext uri="{FF2B5EF4-FFF2-40B4-BE49-F238E27FC236}">
                <a16:creationId xmlns:a16="http://schemas.microsoft.com/office/drawing/2014/main" id="{0589EEFC-D5FD-A096-37FA-639E28A36B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898648" y="6356350"/>
            <a:ext cx="3505200" cy="365760"/>
          </a:xfrm>
        </p:spPr>
        <p:txBody>
          <a:bodyPr/>
          <a:lstStyle/>
          <a:p>
            <a:pPr algn="ctr"/>
            <a:r>
              <a:rPr lang="el-GR">
                <a:latin typeface="Times New Roman" panose="02020603050405020304" pitchFamily="18" charset="0"/>
                <a:cs typeface="Times New Roman" panose="02020603050405020304" pitchFamily="18" charset="0"/>
              </a:rPr>
              <a:t>|   φον   |   Ξ   | πρπ |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/>
              <a:t>XML коментари: XQuery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quarter"/>
          </p:nvPr>
        </p:nvSpPr>
        <p:spPr>
          <a:xfrm>
            <a:off x="457200" y="1234440"/>
            <a:ext cx="8138160" cy="1600200"/>
          </a:xfrm>
        </p:spPr>
        <p:txBody>
          <a:bodyPr wrap="square"/>
          <a:lstStyle/>
          <a:p>
            <a:pPr>
              <a:spcAft>
                <a:spcPts val="600"/>
              </a:spcAft>
            </a:pPr>
            <a:r>
              <a:rPr sz="1400"/>
              <a:t>Извештај по аутору је FLWOR упит. SQL Server је XQuery 1.0, нема group by, па се групише преко distinct-values.</a:t>
            </a:r>
          </a:p>
          <a:p>
            <a:pPr>
              <a:spcAft>
                <a:spcPts val="600"/>
              </a:spcAft>
            </a:pPr>
            <a:r>
              <a:rPr sz="1400"/>
              <a:t>Осе нису показне вежбе него стоје у функцијама које апликација зове.</a:t>
            </a:r>
          </a:p>
          <a:p>
            <a:pPr>
              <a:spcAft>
                <a:spcPts val="600"/>
              </a:spcAft>
            </a:pPr>
            <a:r>
              <a:rPr sz="1400"/>
              <a:t>parent:: је једини начин да се дође до брата чвора, јер сервер од обрнутих оса подржава само њу.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2971800"/>
            <a:ext cx="8138160" cy="3063239"/>
          </a:xfrm>
          <a:prstGeom prst="rect">
            <a:avLst/>
          </a:prstGeom>
          <a:solidFill>
            <a:srgbClr val="F2F4F7"/>
          </a:solidFill>
          <a:ln>
            <a:solidFill>
              <a:srgbClr val="C8CED8"/>
            </a:solidFill>
          </a:ln>
        </p:spPr>
        <p:txBody>
          <a:bodyPr wrap="none" lIns="109728" tIns="73152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1F2A44"/>
                </a:solidFill>
                <a:latin typeface="Courier New"/>
              </a:rPr>
              <a:t>for $a in distinct-values(/komentari/kom/@autor)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1F2A44"/>
                </a:solidFill>
                <a:latin typeface="Courier New"/>
              </a:rPr>
              <a:t>let $g := /komentari/kom[@autor = $a]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1F2A44"/>
                </a:solidFill>
                <a:latin typeface="Courier New"/>
              </a:rPr>
              <a:t>order by count($g) descending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1F2A44"/>
                </a:solidFill>
                <a:latin typeface="Courier New"/>
              </a:rPr>
              <a:t>return &lt;autor ime="{$a}" broj="{count($g)}"/&gt;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1F2A44"/>
                </a:solidFill>
                <a:latin typeface="Courier New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1F2A44"/>
                </a:solidFill>
                <a:latin typeface="Courier New"/>
              </a:rPr>
              <a:t>-- чвор налазимо по &lt;os&gt;, а треба нам и брат &lt;pregledac&gt;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1F2A44"/>
                </a:solidFill>
                <a:latin typeface="Courier New"/>
              </a:rPr>
              <a:t>.nodes('/descendant::os/parent::okruzenje')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7" name="Čuvar mesta za datum 2">
            <a:extLst>
              <a:ext uri="{FF2B5EF4-FFF2-40B4-BE49-F238E27FC236}">
                <a16:creationId xmlns:a16="http://schemas.microsoft.com/office/drawing/2014/main" id="{8CE5309C-1AB1-BEB3-D3FB-D9C998827AD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400800" y="6356350"/>
            <a:ext cx="2289048" cy="365760"/>
          </a:xfrm>
        </p:spPr>
        <p:txBody>
          <a:bodyPr/>
          <a:lstStyle/>
          <a:p>
            <a:pPr algn="r"/>
            <a:fld id="{3A5BF23F-728E-4173-9525-7A77EB0D6E66}" type="datetime1">
              <a:rPr lang="sr-Cyrl-RS" smtClean="0"/>
              <a:t>31.08.2026.</a:t>
            </a:fld>
            <a:endParaRPr lang="en-US" dirty="0"/>
          </a:p>
        </p:txBody>
      </p:sp>
      <p:sp>
        <p:nvSpPr>
          <p:cNvPr id="8" name="Čuvar mesta za podnožje 3">
            <a:extLst>
              <a:ext uri="{FF2B5EF4-FFF2-40B4-BE49-F238E27FC236}">
                <a16:creationId xmlns:a16="http://schemas.microsoft.com/office/drawing/2014/main" id="{0589EEFC-D5FD-A096-37FA-639E28A36B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898648" y="6356350"/>
            <a:ext cx="3505200" cy="365760"/>
          </a:xfrm>
        </p:spPr>
        <p:txBody>
          <a:bodyPr/>
          <a:lstStyle/>
          <a:p>
            <a:pPr algn="ctr"/>
            <a:r>
              <a:rPr lang="el-GR">
                <a:latin typeface="Times New Roman" panose="02020603050405020304" pitchFamily="18" charset="0"/>
                <a:cs typeface="Times New Roman" panose="02020603050405020304" pitchFamily="18" charset="0"/>
              </a:rPr>
              <a:t>|   φον   |   Ξ   | πρπ |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/>
              <a:t>CLR агрегатна функција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quarter"/>
          </p:nvPr>
        </p:nvSpPr>
        <p:spPr>
          <a:xfrm>
            <a:off x="457200" y="1234440"/>
            <a:ext cx="8138160" cy="1600200"/>
          </a:xfrm>
        </p:spPr>
        <p:txBody>
          <a:bodyPr wrap="square"/>
          <a:lstStyle/>
          <a:p>
            <a:pPr>
              <a:spcAft>
                <a:spcPts val="600"/>
              </a:spcAft>
            </a:pPr>
            <a:r>
              <a:rPr sz="1400"/>
              <a:t>Спаја поруке свих грешака једног пројекта у један ред.</a:t>
            </a:r>
          </a:p>
          <a:p>
            <a:pPr>
              <a:spcAft>
                <a:spcPts val="600"/>
              </a:spcAft>
            </a:pPr>
            <a:r>
              <a:rPr sz="1400"/>
              <a:t>Формат UserDefined тражи ручну серијализацију, зато интерфејс IBinarySerialize.</a:t>
            </a:r>
          </a:p>
          <a:p>
            <a:pPr>
              <a:spcAft>
                <a:spcPts val="600"/>
              </a:spcAft>
            </a:pPr>
            <a:r>
              <a:rPr sz="1400"/>
              <a:t>Заштиту нисам гасио: база памти SHA2_512 хеш склопа и верује баш њему.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2971800"/>
            <a:ext cx="8138160" cy="3063239"/>
          </a:xfrm>
          <a:prstGeom prst="rect">
            <a:avLst/>
          </a:prstGeom>
          <a:solidFill>
            <a:srgbClr val="F2F4F7"/>
          </a:solidFill>
          <a:ln>
            <a:solidFill>
              <a:srgbClr val="C8CED8"/>
            </a:solidFill>
          </a:ln>
        </p:spPr>
        <p:txBody>
          <a:bodyPr wrap="none" lIns="109728" tIns="73152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1F2A44"/>
                </a:solidFill>
                <a:latin typeface="Courier New"/>
              </a:rPr>
              <a:t>[SqlUserDefinedAggregate(Format.UserDefined, MaxByteSize = -1, ...)]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1F2A44"/>
                </a:solidFill>
                <a:latin typeface="Courier New"/>
              </a:rPr>
              <a:t>public struct SpojPoruke : IBinarySerialize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1F2A44"/>
                </a:solidFill>
                <a:latin typeface="Courier New"/>
              </a:rPr>
              <a:t>{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1F2A44"/>
                </a:solidFill>
                <a:latin typeface="Courier New"/>
              </a:rPr>
              <a:t>    public void Init()                        // почетак групе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1F2A44"/>
                </a:solidFill>
                <a:latin typeface="Courier New"/>
              </a:rPr>
              <a:t>    public void Accumulate(SqlString poruka)  // један ред групе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1F2A44"/>
                </a:solidFill>
                <a:latin typeface="Courier New"/>
              </a:rPr>
              <a:t>    public void Merge(SpojPoruke drugi)       // паралелно рачунање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1F2A44"/>
                </a:solidFill>
                <a:latin typeface="Courier New"/>
              </a:rPr>
              <a:t>    public SqlString Terminate()              // резултат групе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1F2A44"/>
                </a:solidFill>
                <a:latin typeface="Courier New"/>
              </a:rPr>
              <a:t>    public void Write(BinaryWriter w)         // исти редослед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1F2A44"/>
                </a:solidFill>
                <a:latin typeface="Courier New"/>
              </a:rPr>
              <a:t>    public void Read (BinaryReader r)         // као у Write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1F2A44"/>
                </a:solidFill>
                <a:latin typeface="Courier New"/>
              </a:rPr>
              <a:t>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7" name="Čuvar mesta za datum 2">
            <a:extLst>
              <a:ext uri="{FF2B5EF4-FFF2-40B4-BE49-F238E27FC236}">
                <a16:creationId xmlns:a16="http://schemas.microsoft.com/office/drawing/2014/main" id="{8CE5309C-1AB1-BEB3-D3FB-D9C998827AD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400800" y="6356350"/>
            <a:ext cx="2289048" cy="365760"/>
          </a:xfrm>
        </p:spPr>
        <p:txBody>
          <a:bodyPr/>
          <a:lstStyle/>
          <a:p>
            <a:pPr algn="r"/>
            <a:fld id="{3A5BF23F-728E-4173-9525-7A77EB0D6E66}" type="datetime1">
              <a:rPr lang="sr-Cyrl-RS" smtClean="0"/>
              <a:t>31.08.2026.</a:t>
            </a:fld>
            <a:endParaRPr lang="en-US" dirty="0"/>
          </a:p>
        </p:txBody>
      </p:sp>
      <p:sp>
        <p:nvSpPr>
          <p:cNvPr id="8" name="Čuvar mesta za podnožje 3">
            <a:extLst>
              <a:ext uri="{FF2B5EF4-FFF2-40B4-BE49-F238E27FC236}">
                <a16:creationId xmlns:a16="http://schemas.microsoft.com/office/drawing/2014/main" id="{0589EEFC-D5FD-A096-37FA-639E28A36B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898648" y="6356350"/>
            <a:ext cx="3505200" cy="365760"/>
          </a:xfrm>
        </p:spPr>
        <p:txBody>
          <a:bodyPr/>
          <a:lstStyle/>
          <a:p>
            <a:pPr algn="ctr"/>
            <a:r>
              <a:rPr lang="el-GR">
                <a:latin typeface="Times New Roman" panose="02020603050405020304" pitchFamily="18" charset="0"/>
                <a:cs typeface="Times New Roman" panose="02020603050405020304" pitchFamily="18" charset="0"/>
              </a:rPr>
              <a:t>|   φον   |   Ξ   | πρπ |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/>
              <a:t>PIVOT и OUTPUT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quarter"/>
          </p:nvPr>
        </p:nvSpPr>
        <p:spPr>
          <a:xfrm>
            <a:off x="457200" y="1234440"/>
            <a:ext cx="8138160" cy="1600200"/>
          </a:xfrm>
        </p:spPr>
        <p:txBody>
          <a:bodyPr wrap="square"/>
          <a:lstStyle/>
          <a:p>
            <a:pPr>
              <a:spcAft>
                <a:spcPts val="600"/>
              </a:spcAft>
            </a:pPr>
            <a:r>
              <a:rPr sz="1400"/>
              <a:t>PIVOT даје матрицу: ред по пројекту, колона по озбиљности.</a:t>
            </a:r>
          </a:p>
          <a:p>
            <a:pPr>
              <a:spcAft>
                <a:spcPts val="600"/>
              </a:spcAft>
            </a:pPr>
            <a:r>
              <a:rPr sz="1400"/>
              <a:t>Статички, јер је скуп озбиљности фиксиран CHECK ограничењем.</a:t>
            </a:r>
          </a:p>
          <a:p>
            <a:pPr>
              <a:spcAft>
                <a:spcPts val="600"/>
              </a:spcAft>
            </a:pPr>
            <a:r>
              <a:rPr sz="1400"/>
              <a:t>OUTPUT архивира промену статуса у истом DML кораку, без додатног тригера.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2971800"/>
            <a:ext cx="8138160" cy="3063239"/>
          </a:xfrm>
          <a:prstGeom prst="rect">
            <a:avLst/>
          </a:prstGeom>
          <a:solidFill>
            <a:srgbClr val="F2F4F7"/>
          </a:solidFill>
          <a:ln>
            <a:solidFill>
              <a:srgbClr val="C8CED8"/>
            </a:solidFill>
          </a:ln>
        </p:spPr>
        <p:txBody>
          <a:bodyPr wrap="none" lIns="109728" tIns="73152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1F2A44"/>
                </a:solidFill>
                <a:latin typeface="Courier New"/>
              </a:rPr>
              <a:t>PIVOT (COUNT(IdGreske) FOR Ozbiljnost IN ([1],[2],[3],[4],[5])) AS pvt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1F2A44"/>
                </a:solidFill>
                <a:latin typeface="Courier New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1F2A44"/>
                </a:solidFill>
                <a:latin typeface="Courier New"/>
              </a:rPr>
              <a:t>UPDATE impl.tblGreska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1F2A44"/>
                </a:solidFill>
                <a:latin typeface="Courier New"/>
              </a:rPr>
              <a:t>SET    StatusGr = @noviStatus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1F2A44"/>
                </a:solidFill>
                <a:latin typeface="Courier New"/>
              </a:rPr>
              <a:t>OUTPUT deleted.Id, deleted.StatusGr, inserted.StatusGr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1F2A44"/>
                </a:solidFill>
                <a:latin typeface="Courier New"/>
              </a:rPr>
              <a:t>INTO   impl.tblHistorijaStatusa (IdGreske, StariStatus, NoviStatus)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1F2A44"/>
                </a:solidFill>
                <a:latin typeface="Courier New"/>
              </a:rPr>
              <a:t>WHERE  Id = @idGreske AND StatusGr &lt;&gt; @noviStatus;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7" name="Čuvar mesta za datum 2">
            <a:extLst>
              <a:ext uri="{FF2B5EF4-FFF2-40B4-BE49-F238E27FC236}">
                <a16:creationId xmlns:a16="http://schemas.microsoft.com/office/drawing/2014/main" id="{8CE5309C-1AB1-BEB3-D3FB-D9C998827AD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400800" y="6356350"/>
            <a:ext cx="2289048" cy="365760"/>
          </a:xfrm>
        </p:spPr>
        <p:txBody>
          <a:bodyPr/>
          <a:lstStyle/>
          <a:p>
            <a:pPr algn="r"/>
            <a:fld id="{3A5BF23F-728E-4173-9525-7A77EB0D6E66}" type="datetime1">
              <a:rPr lang="sr-Cyrl-RS" smtClean="0"/>
              <a:t>31.08.2026.</a:t>
            </a:fld>
            <a:endParaRPr lang="en-US" dirty="0"/>
          </a:p>
        </p:txBody>
      </p:sp>
      <p:sp>
        <p:nvSpPr>
          <p:cNvPr id="8" name="Čuvar mesta za podnožje 3">
            <a:extLst>
              <a:ext uri="{FF2B5EF4-FFF2-40B4-BE49-F238E27FC236}">
                <a16:creationId xmlns:a16="http://schemas.microsoft.com/office/drawing/2014/main" id="{0589EEFC-D5FD-A096-37FA-639E28A36B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898648" y="6356350"/>
            <a:ext cx="3505200" cy="365760"/>
          </a:xfrm>
        </p:spPr>
        <p:txBody>
          <a:bodyPr/>
          <a:lstStyle/>
          <a:p>
            <a:pPr algn="ctr"/>
            <a:r>
              <a:rPr lang="el-GR">
                <a:latin typeface="Times New Roman" panose="02020603050405020304" pitchFamily="18" charset="0"/>
                <a:cs typeface="Times New Roman" panose="02020603050405020304" pitchFamily="18" charset="0"/>
              </a:rPr>
              <a:t>|   φον   |   Ξ   | πρπ |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/>
              <a:t>Апликације и изолација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quarter"/>
          </p:nvPr>
        </p:nvSpPr>
        <p:spPr>
          <a:xfrm>
            <a:off x="457200" y="1234440"/>
            <a:ext cx="8138160" cy="1600200"/>
          </a:xfrm>
        </p:spPr>
        <p:txBody>
          <a:bodyPr wrap="square"/>
          <a:lstStyle/>
          <a:p>
            <a:pPr>
              <a:spcAft>
                <a:spcPts val="600"/>
              </a:spcAft>
            </a:pPr>
            <a:r>
              <a:rPr sz="1400"/>
              <a:t>Три слоја: домен, приступ подацима, приказ. У слоју приказа нема ниједног реда SQL кода.</a:t>
            </a:r>
          </a:p>
          <a:p>
            <a:pPr>
              <a:spcAft>
                <a:spcPts val="600"/>
              </a:spcAft>
            </a:pPr>
            <a:r>
              <a:rPr sz="1400"/>
              <a:t>Логин нема ниједно право. Права се добијају тек активирањем апликационе улоге.</a:t>
            </a:r>
          </a:p>
          <a:p>
            <a:pPr>
              <a:spcAft>
                <a:spcPts val="600"/>
              </a:spcAft>
            </a:pPr>
            <a:r>
              <a:rPr sz="1400"/>
              <a:t>Веза остаје отворена, јер улога важи за сесију, и базен веза је искључен.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2971800"/>
            <a:ext cx="8138160" cy="3063239"/>
          </a:xfrm>
          <a:prstGeom prst="rect">
            <a:avLst/>
          </a:prstGeom>
          <a:solidFill>
            <a:srgbClr val="F2F4F7"/>
          </a:solidFill>
          <a:ln>
            <a:solidFill>
              <a:srgbClr val="C8CED8"/>
            </a:solidFill>
          </a:ln>
        </p:spPr>
        <p:txBody>
          <a:bodyPr wrap="none" lIns="109728" tIns="73152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1F2A44"/>
                </a:solidFill>
                <a:latin typeface="Courier New"/>
              </a:rPr>
              <a:t>var cmd = new SqlCommand("sp_setapprole", _veza)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1F2A44"/>
                </a:solidFill>
                <a:latin typeface="Courier New"/>
              </a:rPr>
              <a:t>          { CommandType = CommandType.StoredProcedure };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1F2A44"/>
                </a:solidFill>
                <a:latin typeface="Courier New"/>
              </a:rPr>
              <a:t>cmd.Parameters.AddWithValue("@rolename", "DataProviderDEV");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1F2A44"/>
                </a:solidFill>
                <a:latin typeface="Courier New"/>
              </a:rPr>
              <a:t>cmd.Parameters.AddWithValue("@password", _lozinkaUloge);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1F2A44"/>
                </a:solidFill>
                <a:latin typeface="Courier New"/>
              </a:rPr>
              <a:t>cmd.ExecuteNonQuery();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7" name="Čuvar mesta za datum 2">
            <a:extLst>
              <a:ext uri="{FF2B5EF4-FFF2-40B4-BE49-F238E27FC236}">
                <a16:creationId xmlns:a16="http://schemas.microsoft.com/office/drawing/2014/main" id="{8CE5309C-1AB1-BEB3-D3FB-D9C998827AD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400800" y="6356350"/>
            <a:ext cx="2289048" cy="365760"/>
          </a:xfrm>
        </p:spPr>
        <p:txBody>
          <a:bodyPr/>
          <a:lstStyle/>
          <a:p>
            <a:pPr algn="r"/>
            <a:fld id="{3A5BF23F-728E-4173-9525-7A77EB0D6E66}" type="datetime1">
              <a:rPr lang="sr-Cyrl-RS" smtClean="0"/>
              <a:t>31.08.2026.</a:t>
            </a:fld>
            <a:endParaRPr lang="en-US" dirty="0"/>
          </a:p>
        </p:txBody>
      </p:sp>
      <p:sp>
        <p:nvSpPr>
          <p:cNvPr id="8" name="Čuvar mesta za podnožje 3">
            <a:extLst>
              <a:ext uri="{FF2B5EF4-FFF2-40B4-BE49-F238E27FC236}">
                <a16:creationId xmlns:a16="http://schemas.microsoft.com/office/drawing/2014/main" id="{0589EEFC-D5FD-A096-37FA-639E28A36B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898648" y="6356350"/>
            <a:ext cx="3505200" cy="365760"/>
          </a:xfrm>
        </p:spPr>
        <p:txBody>
          <a:bodyPr/>
          <a:lstStyle/>
          <a:p>
            <a:pPr algn="ctr"/>
            <a:r>
              <a:rPr lang="el-GR">
                <a:latin typeface="Times New Roman" panose="02020603050405020304" pitchFamily="18" charset="0"/>
                <a:cs typeface="Times New Roman" panose="02020603050405020304" pitchFamily="18" charset="0"/>
              </a:rPr>
              <a:t>|   φον   |   Ξ   | πρπ |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/>
              <a:t>Шта показујем уживо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quarter"/>
          </p:nvPr>
        </p:nvSpPr>
        <p:spPr>
          <a:xfrm>
            <a:off x="457200" y="1234440"/>
            <a:ext cx="8138160" cy="4480560"/>
          </a:xfrm>
        </p:spPr>
        <p:txBody>
          <a:bodyPr wrap="square"/>
          <a:lstStyle/>
          <a:p>
            <a:pPr>
              <a:spcAft>
                <a:spcPts val="1000"/>
              </a:spcAft>
            </a:pPr>
            <a:r>
              <a:rPr sz="1700"/>
              <a:t>Изградња базе од нуле и пролаз свих тестова.</a:t>
            </a:r>
          </a:p>
          <a:p>
            <a:pPr>
              <a:spcAft>
                <a:spcPts val="1000"/>
              </a:spcAft>
            </a:pPr>
            <a:r>
              <a:rPr sz="1700"/>
              <a:t>Пријава грешке кроз апликацију, па унос коментара са попуњеним решењем: тригер сам затвара грешку, а OUTPUT то уписује у историју.</a:t>
            </a:r>
          </a:p>
          <a:p>
            <a:pPr>
              <a:spcAft>
                <a:spcPts val="1000"/>
              </a:spcAft>
            </a:pPr>
            <a:r>
              <a:rPr sz="1700"/>
              <a:t>Претрага у оба режима, на истом термину.</a:t>
            </a:r>
          </a:p>
          <a:p>
            <a:pPr>
              <a:spcAft>
                <a:spcPts val="1000"/>
              </a:spcAft>
            </a:pPr>
            <a:r>
              <a:rPr sz="1700"/>
              <a:t>Матрица грешака и сажетак по пројекту, где ради CLR агрегат.</a:t>
            </a:r>
          </a:p>
          <a:p>
            <a:pPr>
              <a:spcAft>
                <a:spcPts val="1000"/>
              </a:spcAft>
            </a:pPr>
            <a:r>
              <a:rPr sz="1700"/>
              <a:t>Провера граница: QA апликација покушава оно што не сме и добија одбијање.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7" name="Čuvar mesta za datum 2">
            <a:extLst>
              <a:ext uri="{FF2B5EF4-FFF2-40B4-BE49-F238E27FC236}">
                <a16:creationId xmlns:a16="http://schemas.microsoft.com/office/drawing/2014/main" id="{8CE5309C-1AB1-BEB3-D3FB-D9C998827AD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400800" y="6356350"/>
            <a:ext cx="2289048" cy="365760"/>
          </a:xfrm>
        </p:spPr>
        <p:txBody>
          <a:bodyPr/>
          <a:lstStyle/>
          <a:p>
            <a:pPr algn="r"/>
            <a:fld id="{3A5BF23F-728E-4173-9525-7A77EB0D6E66}" type="datetime1">
              <a:rPr lang="sr-Cyrl-RS" smtClean="0"/>
              <a:t>31.08.2026.</a:t>
            </a:fld>
            <a:endParaRPr lang="en-US" dirty="0"/>
          </a:p>
        </p:txBody>
      </p:sp>
      <p:sp>
        <p:nvSpPr>
          <p:cNvPr id="8" name="Čuvar mesta za podnožje 3">
            <a:extLst>
              <a:ext uri="{FF2B5EF4-FFF2-40B4-BE49-F238E27FC236}">
                <a16:creationId xmlns:a16="http://schemas.microsoft.com/office/drawing/2014/main" id="{0589EEFC-D5FD-A096-37FA-639E28A36B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898648" y="6356350"/>
            <a:ext cx="3505200" cy="365760"/>
          </a:xfrm>
        </p:spPr>
        <p:txBody>
          <a:bodyPr/>
          <a:lstStyle/>
          <a:p>
            <a:pPr algn="ctr"/>
            <a:r>
              <a:rPr lang="el-GR">
                <a:latin typeface="Times New Roman" panose="02020603050405020304" pitchFamily="18" charset="0"/>
                <a:cs typeface="Times New Roman" panose="02020603050405020304" pitchFamily="18" charset="0"/>
              </a:rPr>
              <a:t>|   φον   |   Ξ   | πρπ |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theme/_rels/theme1.xml.rels><?xml version='1.0' encoding='UTF-8' standalone='yes'?>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igin">
  <a:themeElements>
    <a:clrScheme name="Flow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rigin">
      <a:fillStyleLst>
        <a:solidFill>
          <a:schemeClr val="phClr"/>
        </a:solidFill>
        <a:gradFill rotWithShape="1">
          <a:gsLst>
            <a:gs pos="0">
              <a:schemeClr val="phClr">
                <a:tint val="45000"/>
                <a:satMod val="200000"/>
              </a:schemeClr>
            </a:gs>
            <a:gs pos="30000">
              <a:schemeClr val="phClr">
                <a:tint val="61000"/>
                <a:satMod val="200000"/>
              </a:schemeClr>
            </a:gs>
            <a:gs pos="45000">
              <a:schemeClr val="phClr">
                <a:tint val="66000"/>
                <a:satMod val="200000"/>
              </a:schemeClr>
            </a:gs>
            <a:gs pos="55000">
              <a:schemeClr val="phClr">
                <a:tint val="66000"/>
                <a:satMod val="200000"/>
              </a:schemeClr>
            </a:gs>
            <a:gs pos="73000">
              <a:schemeClr val="phClr">
                <a:tint val="61000"/>
                <a:satMod val="200000"/>
              </a:schemeClr>
            </a:gs>
            <a:gs pos="100000">
              <a:schemeClr val="phClr">
                <a:tint val="45000"/>
                <a:satMod val="200000"/>
              </a:schemeClr>
            </a:gs>
          </a:gsLst>
          <a:lin ang="950000" scaled="1"/>
        </a:gradFill>
        <a:gradFill rotWithShape="1">
          <a:gsLst>
            <a:gs pos="0">
              <a:schemeClr val="phClr">
                <a:shade val="63000"/>
              </a:schemeClr>
            </a:gs>
            <a:gs pos="30000">
              <a:schemeClr val="phClr">
                <a:shade val="90000"/>
                <a:satMod val="110000"/>
              </a:schemeClr>
            </a:gs>
            <a:gs pos="45000">
              <a:schemeClr val="phClr">
                <a:shade val="100000"/>
                <a:satMod val="118000"/>
              </a:schemeClr>
            </a:gs>
            <a:gs pos="55000">
              <a:schemeClr val="phClr">
                <a:shade val="100000"/>
                <a:satMod val="118000"/>
              </a:schemeClr>
            </a:gs>
            <a:gs pos="73000">
              <a:schemeClr val="phClr">
                <a:shade val="90000"/>
                <a:satMod val="110000"/>
              </a:schemeClr>
            </a:gs>
            <a:gs pos="100000">
              <a:schemeClr val="phClr">
                <a:shade val="63000"/>
              </a:schemeClr>
            </a:gs>
          </a:gsLst>
          <a:lin ang="950000" scaled="1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43000" dir="5400000" rotWithShape="0">
              <a:srgbClr val="000000">
                <a:alpha val="40000"/>
              </a:srgbClr>
            </a:outerShdw>
          </a:effectLst>
          <a:scene3d>
            <a:camera prst="orthographicFront" fov="0">
              <a:rot lat="0" lon="0" rev="0"/>
            </a:camera>
            <a:lightRig rig="balanced" dir="t">
              <a:rot lat="0" lon="0" rev="0"/>
            </a:lightRig>
          </a:scene3d>
          <a:sp3d prstMaterial="matte">
            <a:bevelT w="0" h="0"/>
            <a:contourClr>
              <a:schemeClr val="phClr">
                <a:tint val="100000"/>
                <a:shade val="100000"/>
                <a:hueMod val="100000"/>
                <a:satMod val="100000"/>
              </a:schemeClr>
            </a:contourClr>
          </a:sp3d>
        </a:effectStyle>
        <a:effectStyle>
          <a:effectLst>
            <a:outerShdw blurRad="50800" dist="25400" dir="5400000" rotWithShape="0">
              <a:srgbClr val="000000">
                <a:alpha val="50000"/>
              </a:srgbClr>
            </a:outerShdw>
          </a:effectLst>
          <a:scene3d>
            <a:camera prst="orthographicFront" fov="0">
              <a:rot lat="0" lon="0" rev="0"/>
            </a:camera>
            <a:lightRig rig="soft" dir="t">
              <a:rot lat="0" lon="0" rev="2700000"/>
            </a:lightRig>
          </a:scene3d>
          <a:sp3d prstMaterial="matte">
            <a:bevelT w="50800" h="50800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60000"/>
                <a:satMod val="300000"/>
              </a:schemeClr>
            </a:gs>
            <a:gs pos="30000">
              <a:schemeClr val="phClr">
                <a:shade val="80000"/>
                <a:satMod val="230000"/>
              </a:schemeClr>
            </a:gs>
            <a:gs pos="100000">
              <a:schemeClr val="phClr">
                <a:tint val="97000"/>
                <a:satMod val="22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6000"/>
                <a:satMod val="120000"/>
              </a:schemeClr>
              <a:schemeClr val="phClr">
                <a:tint val="90000"/>
              </a:schemeClr>
            </a:duotone>
          </a:blip>
          <a:tile tx="0" ty="0" sx="35000" sy="40000" flip="x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6de02fba-be06-49c2-b83f-bcbc64759138" xsi:nil="true"/>
    <lcf76f155ced4ddcb4097134ff3c332f xmlns="689cd0b4-cf72-4cc6-80b5-c92cd003b241">
      <Terms xmlns="http://schemas.microsoft.com/office/infopath/2007/PartnerControls"/>
    </lcf76f155ced4ddcb4097134ff3c332f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1230D62FD4DAA4D8AAA168B3AA581BA" ma:contentTypeVersion="11" ma:contentTypeDescription="Create a new document." ma:contentTypeScope="" ma:versionID="db55ef46a285dc4959e00c6171606732">
  <xsd:schema xmlns:xsd="http://www.w3.org/2001/XMLSchema" xmlns:xs="http://www.w3.org/2001/XMLSchema" xmlns:p="http://schemas.microsoft.com/office/2006/metadata/properties" xmlns:ns2="689cd0b4-cf72-4cc6-80b5-c92cd003b241" xmlns:ns3="6de02fba-be06-49c2-b83f-bcbc64759138" targetNamespace="http://schemas.microsoft.com/office/2006/metadata/properties" ma:root="true" ma:fieldsID="69b602d574bb6c1b7edbd680302d5dfe" ns2:_="" ns3:_="">
    <xsd:import namespace="689cd0b4-cf72-4cc6-80b5-c92cd003b241"/>
    <xsd:import namespace="6de02fba-be06-49c2-b83f-bcbc6475913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89cd0b4-cf72-4cc6-80b5-c92cd003b24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d6c881fc-7058-4a95-ab3d-f42c97f93035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8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de02fba-be06-49c2-b83f-bcbc64759138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6de221c4-b38b-4588-a0a4-57a577c6b57c}" ma:internalName="TaxCatchAll" ma:showField="CatchAllData" ma:web="6de02fba-be06-49c2-b83f-bcbc64759138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180D1B1-3E55-4D57-956E-87C4D8D2AB28}">
  <ds:schemaRefs>
    <ds:schemaRef ds:uri="http://schemas.microsoft.com/office/2006/metadata/properties"/>
    <ds:schemaRef ds:uri="http://schemas.microsoft.com/office/infopath/2007/PartnerControls"/>
    <ds:schemaRef ds:uri="6de02fba-be06-49c2-b83f-bcbc64759138"/>
    <ds:schemaRef ds:uri="689cd0b4-cf72-4cc6-80b5-c92cd003b241"/>
  </ds:schemaRefs>
</ds:datastoreItem>
</file>

<file path=customXml/itemProps2.xml><?xml version="1.0" encoding="utf-8"?>
<ds:datastoreItem xmlns:ds="http://schemas.openxmlformats.org/officeDocument/2006/customXml" ds:itemID="{AA7179E0-3805-4C92-9BD7-1379789E4CBF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0E819C52-1CD2-48CE-BB42-84AF58EB770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689cd0b4-cf72-4cc6-80b5-c92cd003b241"/>
    <ds:schemaRef ds:uri="6de02fba-be06-49c2-b83f-bcbc64759138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Origin</Template>
  <TotalTime>123179</TotalTime>
  <Words>176</Words>
  <Application>Microsoft Office PowerPoint</Application>
  <PresentationFormat>On-screen Show (4:3)</PresentationFormat>
  <Paragraphs>40</Paragraphs>
  <Slides>3</Slides>
  <Notes>2</Notes>
  <HiddenSlides>0</HiddenSlides>
  <MMClips>0</MMClips>
  <ScaleCrop>false</ScaleCrop>
  <HeadingPairs>
    <vt:vector size="4" baseType="variant">
      <vt:variant>
        <vt:lpstr>Theme</vt:lpstr>
      </vt:variant>
      <vt:variant>
        <vt:i4>2</vt:i4>
      </vt:variant>
      <vt:variant>
        <vt:lpstr>Slide Titles</vt:lpstr>
      </vt:variant>
      <vt:variant>
        <vt:i4>3</vt:i4>
      </vt:variant>
    </vt:vector>
  </HeadingPairs>
  <TitlesOfParts>
    <vt:vector size="5" baseType="lpstr">
      <vt:lpstr>Origin</vt:lpstr>
      <vt:lpstr>Custom Design</vt:lpstr>
      <vt:lpstr>Факултет организационих наука</vt:lpstr>
      <vt:lpstr>На овом предмету...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Saša D. Lazarević</dc:creator>
  <cp:lastModifiedBy>Kristina S. Jovanović</cp:lastModifiedBy>
  <cp:revision>259</cp:revision>
  <dcterms:created xsi:type="dcterms:W3CDTF">2006-08-16T00:00:00Z</dcterms:created>
  <dcterms:modified xsi:type="dcterms:W3CDTF">2026-09-01T01:57:12Z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0x010100F1230D62FD4DAA4D8AAA168B3AA581BA</vt:lpwstr>
  </property>
</Properties>
</file>